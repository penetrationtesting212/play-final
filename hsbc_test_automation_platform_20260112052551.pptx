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889797" y="0"/>
            <a:ext cx="4067251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9753905" y="4419295"/>
            <a:ext cx="2438705" cy="2438705"/>
          </a:xfrm>
          <a:prstGeom prst="roundRect">
            <a:avLst>
              <a:gd name="adj" fmla="val 37495"/>
            </a:avLst>
          </a:prstGeom>
          <a:solidFill>
            <a:srgbClr val="DB0011">
              <a:alpha val="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743700"/>
            <a:ext cx="12191695" cy="114300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90404" y="6467551"/>
            <a:ext cx="1810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Internal Use Only | HSBC Group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695" y="3148279"/>
            <a:ext cx="1143000" cy="384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9" name="Shape 7"/>
          <p:cNvSpPr/>
          <p:nvPr/>
        </p:nvSpPr>
        <p:spPr>
          <a:xfrm>
            <a:off x="761695" y="4614977"/>
            <a:ext cx="19202" cy="38130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Shape 8"/>
          <p:cNvSpPr/>
          <p:nvPr/>
        </p:nvSpPr>
        <p:spPr>
          <a:xfrm>
            <a:off x="2273198" y="4614977"/>
            <a:ext cx="19202" cy="38130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1" name="Shape 9"/>
          <p:cNvSpPr/>
          <p:nvPr/>
        </p:nvSpPr>
        <p:spPr>
          <a:xfrm>
            <a:off x="4118458" y="4614977"/>
            <a:ext cx="19202" cy="38130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1695" y="1861718"/>
            <a:ext cx="23390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TECHNOLOGY &amp; INNOVATION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61695" y="2167128"/>
            <a:ext cx="7820863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 Automation Platform</a:t>
            </a:r>
            <a:endParaRPr lang="en-US" sz="4500" dirty="0"/>
          </a:p>
        </p:txBody>
      </p:sp>
      <p:sp>
        <p:nvSpPr>
          <p:cNvPr id="14" name="Text 12"/>
          <p:cNvSpPr txBox="1"/>
          <p:nvPr/>
        </p:nvSpPr>
        <p:spPr>
          <a:xfrm>
            <a:off x="761695" y="3443630"/>
            <a:ext cx="53437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AI-powered end-to-end quality assurance solution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61695" y="3814877"/>
            <a:ext cx="33147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web and API environments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33602" y="4604918"/>
            <a:ext cx="3721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33602" y="4776826"/>
            <a:ext cx="12289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January 9, 2026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445106" y="4604918"/>
            <a:ext cx="848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445106" y="4776826"/>
            <a:ext cx="15627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Quality Engineering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290365" y="4604918"/>
            <a:ext cx="495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STATUS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290365" y="4776826"/>
            <a:ext cx="14484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Strategic Initiative</a:t>
            </a:r>
            <a:endParaRPr lang="en-US" sz="12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83" b="-583"/>
          <a:stretch/>
        </p:blipFill>
        <p:spPr>
          <a:xfrm>
            <a:off x="381305" y="381305"/>
            <a:ext cx="1333195" cy="3236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9235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3" b="-83"/>
          <a:stretch/>
        </p:blipFill>
        <p:spPr>
          <a:xfrm>
            <a:off x="457200" y="314554"/>
            <a:ext cx="1190549" cy="2862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29054" y="304495"/>
            <a:ext cx="9144" cy="30449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190902" y="295351"/>
            <a:ext cx="22009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601200" y="362102"/>
            <a:ext cx="22338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 AUTOMATION PLATFORM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923544"/>
            <a:ext cx="12191695" cy="653430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380744"/>
            <a:ext cx="3638398" cy="5619902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380744"/>
            <a:ext cx="3638398" cy="384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1695" y="1723644"/>
            <a:ext cx="19531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Strategic Overview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" y="2162556"/>
            <a:ext cx="3105302" cy="1696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 enterprise-grade platform designed to modernize HSBC's quality assurance landscape. By unifying test creation, AI-driven maintenance, and secure execution, we enable faster delivery cycles without compromising on compliance or security.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61695" y="4190695"/>
            <a:ext cx="12481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4524451"/>
            <a:ext cx="274868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Accelerate Release Velocity: Move from manual validation to automated pipelines.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52805" y="5020056"/>
            <a:ext cx="267187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Mitigation: Reduce human error and increase test coverage for critical paths.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52805" y="5514746"/>
            <a:ext cx="275783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Governance &amp; Audit: Centralized reporting ensures traceability for regulatory compliance.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52805" y="6200546"/>
            <a:ext cx="293888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Cost Efficiency: Lower maintenance overhead through AI self-healing capabilities.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-1282" r="-1282" t="0" b="0"/>
          <a:stretch/>
        </p:blipFill>
        <p:spPr>
          <a:xfrm>
            <a:off x="4470502" y="1419149"/>
            <a:ext cx="219456" cy="1901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803343" y="1380744"/>
            <a:ext cx="17437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Capabilities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470502" y="1876349"/>
            <a:ext cx="3562502" cy="838505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623206" y="2066544"/>
            <a:ext cx="323698" cy="381305"/>
          </a:xfrm>
          <a:prstGeom prst="roundRect">
            <a:avLst>
              <a:gd name="adj" fmla="val 33234"/>
            </a:avLst>
          </a:prstGeom>
          <a:solidFill>
            <a:srgbClr val="FEF2F2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-33" r="-33" t="0" b="0"/>
          <a:stretch/>
        </p:blipFill>
        <p:spPr>
          <a:xfrm>
            <a:off x="4699102" y="2180844"/>
            <a:ext cx="171907" cy="15270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061204" y="2029054"/>
            <a:ext cx="16907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Recording &amp; Generation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5061204" y="2247595"/>
            <a:ext cx="27624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Chrome extension for auto-generating Playwright scripts in multiple languages.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8178394" y="1876349"/>
            <a:ext cx="3562502" cy="838505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331098" y="2066544"/>
            <a:ext cx="323698" cy="381305"/>
          </a:xfrm>
          <a:prstGeom prst="roundRect">
            <a:avLst>
              <a:gd name="adj" fmla="val 33234"/>
            </a:avLst>
          </a:prstGeom>
          <a:solidFill>
            <a:srgbClr val="FEF2F2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-33" r="-33" t="0" b="0"/>
          <a:stretch/>
        </p:blipFill>
        <p:spPr>
          <a:xfrm>
            <a:off x="8406994" y="2180844"/>
            <a:ext cx="171907" cy="15270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769096" y="2029054"/>
            <a:ext cx="12051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Enhancement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8769096" y="2247595"/>
            <a:ext cx="22201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Self-healing locators and smart selector optimization to reduce flakiness.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4470502" y="2866644"/>
            <a:ext cx="3562502" cy="838505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623206" y="3057754"/>
            <a:ext cx="342900" cy="381305"/>
          </a:xfrm>
          <a:prstGeom prst="roundRect">
            <a:avLst>
              <a:gd name="adj" fmla="val 29630"/>
            </a:avLst>
          </a:prstGeom>
          <a:solidFill>
            <a:srgbClr val="FEF2F2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80" b="-180"/>
          <a:stretch/>
        </p:blipFill>
        <p:spPr>
          <a:xfrm>
            <a:off x="4699102" y="3172054"/>
            <a:ext cx="190195" cy="15270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080406" y="3019349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Testing Suite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5080406" y="3238805"/>
            <a:ext cx="27057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Comprehensive REST API testing with AI-assisted assertions.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8178394" y="2866644"/>
            <a:ext cx="3562502" cy="838505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331098" y="3057754"/>
            <a:ext cx="304495" cy="381305"/>
          </a:xfrm>
          <a:prstGeom prst="roundRect">
            <a:avLst>
              <a:gd name="adj" fmla="val 37538"/>
            </a:avLst>
          </a:prstGeom>
          <a:solidFill>
            <a:srgbClr val="FEF2F2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406994" y="3172054"/>
            <a:ext cx="152705" cy="152705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8749894" y="3019349"/>
            <a:ext cx="1367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Enterprise Security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8749894" y="3238805"/>
            <a:ext cx="27057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JWT auth, RBAC, and secure handling of sensitive banking data.</a:t>
            </a:r>
            <a:endParaRPr lang="en-US" sz="90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470502" y="5820156"/>
            <a:ext cx="190195" cy="19019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4774997" y="5781751"/>
            <a:ext cx="2029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Expected Outcomes</a:t>
            </a:r>
            <a:endParaRPr lang="en-US" sz="1500" dirty="0"/>
          </a:p>
        </p:txBody>
      </p:sp>
      <p:sp>
        <p:nvSpPr>
          <p:cNvPr id="44" name="Shape 35"/>
          <p:cNvSpPr/>
          <p:nvPr/>
        </p:nvSpPr>
        <p:spPr>
          <a:xfrm>
            <a:off x="4470502" y="6200546"/>
            <a:ext cx="1705356" cy="800100"/>
          </a:xfrm>
          <a:prstGeom prst="rect">
            <a:avLst/>
          </a:prstGeom>
          <a:solidFill>
            <a:srgbClr val="FCFCFC"/>
          </a:solidFill>
          <a:ln/>
        </p:spPr>
      </p:sp>
      <p:sp>
        <p:nvSpPr>
          <p:cNvPr id="45" name="Shape 36"/>
          <p:cNvSpPr/>
          <p:nvPr/>
        </p:nvSpPr>
        <p:spPr>
          <a:xfrm>
            <a:off x="4470502" y="6200546"/>
            <a:ext cx="38405" cy="800100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46" name="Text 37"/>
          <p:cNvSpPr txBox="1"/>
          <p:nvPr/>
        </p:nvSpPr>
        <p:spPr>
          <a:xfrm>
            <a:off x="4660697" y="6344107"/>
            <a:ext cx="6483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60%</a:t>
            </a:r>
            <a:endParaRPr lang="en-US" sz="1800" dirty="0"/>
          </a:p>
        </p:txBody>
      </p:sp>
      <p:sp>
        <p:nvSpPr>
          <p:cNvPr id="47" name="Text 38"/>
          <p:cNvSpPr txBox="1"/>
          <p:nvPr/>
        </p:nvSpPr>
        <p:spPr>
          <a:xfrm>
            <a:off x="4660697" y="6687007"/>
            <a:ext cx="12097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FASTER AUTHORING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6324905" y="6200546"/>
            <a:ext cx="1705356" cy="800100"/>
          </a:xfrm>
          <a:prstGeom prst="rect">
            <a:avLst/>
          </a:prstGeom>
          <a:solidFill>
            <a:srgbClr val="FCFCFC"/>
          </a:solidFill>
          <a:ln/>
        </p:spPr>
      </p:sp>
      <p:sp>
        <p:nvSpPr>
          <p:cNvPr id="49" name="Shape 40"/>
          <p:cNvSpPr/>
          <p:nvPr/>
        </p:nvSpPr>
        <p:spPr>
          <a:xfrm>
            <a:off x="6324905" y="6200546"/>
            <a:ext cx="38405" cy="800100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50" name="Text 41"/>
          <p:cNvSpPr txBox="1"/>
          <p:nvPr/>
        </p:nvSpPr>
        <p:spPr>
          <a:xfrm>
            <a:off x="6515100" y="6344107"/>
            <a:ext cx="6483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40%</a:t>
            </a:r>
            <a:endParaRPr lang="en-US" sz="1800" dirty="0"/>
          </a:p>
        </p:txBody>
      </p:sp>
      <p:sp>
        <p:nvSpPr>
          <p:cNvPr id="51" name="Text 42"/>
          <p:cNvSpPr txBox="1"/>
          <p:nvPr/>
        </p:nvSpPr>
        <p:spPr>
          <a:xfrm>
            <a:off x="6515100" y="6687007"/>
            <a:ext cx="12097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 MAINTENANCE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8178394" y="6200546"/>
            <a:ext cx="1705356" cy="800100"/>
          </a:xfrm>
          <a:prstGeom prst="rect">
            <a:avLst/>
          </a:prstGeom>
          <a:solidFill>
            <a:srgbClr val="FCFCFC"/>
          </a:solidFill>
          <a:ln/>
        </p:spPr>
      </p:sp>
      <p:sp>
        <p:nvSpPr>
          <p:cNvPr id="53" name="Shape 44"/>
          <p:cNvSpPr/>
          <p:nvPr/>
        </p:nvSpPr>
        <p:spPr>
          <a:xfrm>
            <a:off x="8178394" y="6200546"/>
            <a:ext cx="38405" cy="800100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54" name="Text 45"/>
          <p:cNvSpPr txBox="1"/>
          <p:nvPr/>
        </p:nvSpPr>
        <p:spPr>
          <a:xfrm>
            <a:off x="8369503" y="6344107"/>
            <a:ext cx="6675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24/7</a:t>
            </a:r>
            <a:endParaRPr lang="en-US" sz="1800" dirty="0"/>
          </a:p>
        </p:txBody>
      </p:sp>
      <p:sp>
        <p:nvSpPr>
          <p:cNvPr id="55" name="Text 46"/>
          <p:cNvSpPr txBox="1"/>
          <p:nvPr/>
        </p:nvSpPr>
        <p:spPr>
          <a:xfrm>
            <a:off x="8369503" y="6687007"/>
            <a:ext cx="1133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 AVAILABILITY</a:t>
            </a:r>
            <a:endParaRPr lang="en-US" sz="900" dirty="0"/>
          </a:p>
        </p:txBody>
      </p:sp>
      <p:sp>
        <p:nvSpPr>
          <p:cNvPr id="56" name="Shape 47"/>
          <p:cNvSpPr/>
          <p:nvPr/>
        </p:nvSpPr>
        <p:spPr>
          <a:xfrm>
            <a:off x="10032797" y="6200546"/>
            <a:ext cx="1705356" cy="800100"/>
          </a:xfrm>
          <a:prstGeom prst="rect">
            <a:avLst/>
          </a:prstGeom>
          <a:solidFill>
            <a:srgbClr val="FCFCFC"/>
          </a:solidFill>
          <a:ln/>
        </p:spPr>
      </p:sp>
      <p:sp>
        <p:nvSpPr>
          <p:cNvPr id="57" name="Shape 48"/>
          <p:cNvSpPr/>
          <p:nvPr/>
        </p:nvSpPr>
        <p:spPr>
          <a:xfrm>
            <a:off x="10032797" y="6200546"/>
            <a:ext cx="38405" cy="800100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58" name="Text 49"/>
          <p:cNvSpPr txBox="1"/>
          <p:nvPr/>
        </p:nvSpPr>
        <p:spPr>
          <a:xfrm>
            <a:off x="10223906" y="6344107"/>
            <a:ext cx="7717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</a:t>
            </a:r>
            <a:endParaRPr lang="en-US" sz="1800" dirty="0"/>
          </a:p>
        </p:txBody>
      </p:sp>
      <p:sp>
        <p:nvSpPr>
          <p:cNvPr id="59" name="Text 50"/>
          <p:cNvSpPr txBox="1"/>
          <p:nvPr/>
        </p:nvSpPr>
        <p:spPr>
          <a:xfrm>
            <a:off x="10223906" y="6687007"/>
            <a:ext cx="790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60" name="Text 51"/>
          <p:cNvSpPr txBox="1"/>
          <p:nvPr/>
        </p:nvSpPr>
        <p:spPr>
          <a:xfrm>
            <a:off x="8908999" y="6543446"/>
            <a:ext cx="2915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Confidential &amp; Proprietary | HSBC Group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9235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3" b="-83"/>
          <a:stretch/>
        </p:blipFill>
        <p:spPr>
          <a:xfrm>
            <a:off x="457200" y="314554"/>
            <a:ext cx="1190549" cy="2862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29054" y="304495"/>
            <a:ext cx="9144" cy="30449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190902" y="295351"/>
            <a:ext cx="315285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 Recording &amp; Generation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367467" y="362102"/>
            <a:ext cx="14721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CAPABILITIES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923544"/>
            <a:ext cx="12191695" cy="732434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1324051"/>
            <a:ext cx="8382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Accelerate test creation with our Chrome extension that captures user journeys in real-time and converts them into robust, enterprise-grade Playwright scripts.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229307"/>
            <a:ext cx="3562502" cy="4248302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229307"/>
            <a:ext cx="3562502" cy="384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14" name="Shape 11"/>
          <p:cNvSpPr/>
          <p:nvPr/>
        </p:nvSpPr>
        <p:spPr>
          <a:xfrm>
            <a:off x="761695" y="2572207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CEBE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5" b="-45"/>
          <a:stretch/>
        </p:blipFill>
        <p:spPr>
          <a:xfrm>
            <a:off x="918972" y="2743200"/>
            <a:ext cx="256946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61695" y="3333902"/>
            <a:ext cx="19339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Browser Recording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61695" y="3771900"/>
            <a:ext cx="2991002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Seamlessly integrates with Chrome via Manifest V3 extension. Records complex interactions including hover states, frames, and dynamic content loading without leaving the browser environment.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61695" y="5467198"/>
            <a:ext cx="2952598" cy="705002"/>
          </a:xfrm>
          <a:prstGeom prst="roundRect">
            <a:avLst>
              <a:gd name="adj" fmla="val 701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3544" y="5655564"/>
            <a:ext cx="133502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33856" y="5629046"/>
            <a:ext cx="15581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Captures Shadow DOM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3544" y="5845759"/>
            <a:ext cx="133502" cy="1335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33856" y="5820156"/>
            <a:ext cx="11292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Handles Iframes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317797" y="2229307"/>
            <a:ext cx="3562502" cy="4248302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317797" y="2229307"/>
            <a:ext cx="3562502" cy="384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25" name="Shape 19"/>
          <p:cNvSpPr/>
          <p:nvPr/>
        </p:nvSpPr>
        <p:spPr>
          <a:xfrm>
            <a:off x="4623206" y="2572207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CEBE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5" b="-45"/>
          <a:stretch/>
        </p:blipFill>
        <p:spPr>
          <a:xfrm>
            <a:off x="4779569" y="2743200"/>
            <a:ext cx="256946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23206" y="3333902"/>
            <a:ext cx="17337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Auto-Generation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623206" y="3771900"/>
            <a:ext cx="3010205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Intelligent translation engine converts recorded actions into standardized Playwright test scripts. Applies best practices for wait strategies and selector prioritization automatically.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623206" y="5467198"/>
            <a:ext cx="2952598" cy="705002"/>
          </a:xfrm>
          <a:prstGeom prst="roundRect">
            <a:avLst>
              <a:gd name="adj" fmla="val 701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4785055" y="5655564"/>
            <a:ext cx="114300" cy="1335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975250" y="5629046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Instant Script Preview</a:t>
            </a:r>
            <a:endParaRPr lang="en-US" sz="10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4785055" y="5845759"/>
            <a:ext cx="114300" cy="13350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4975250" y="5820156"/>
            <a:ext cx="13962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Smart Wait Handling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8178394" y="2229307"/>
            <a:ext cx="3562502" cy="4248302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8178394" y="2229307"/>
            <a:ext cx="3562502" cy="384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6" name="Shape 27"/>
          <p:cNvSpPr/>
          <p:nvPr/>
        </p:nvSpPr>
        <p:spPr>
          <a:xfrm>
            <a:off x="8483803" y="2572207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CEBEB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5" b="-45"/>
          <a:stretch/>
        </p:blipFill>
        <p:spPr>
          <a:xfrm>
            <a:off x="8641080" y="2743200"/>
            <a:ext cx="256946" cy="22860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483803" y="3333902"/>
            <a:ext cx="23152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Multi-Language Export</a:t>
            </a:r>
            <a:endParaRPr lang="en-US" sz="1500" dirty="0"/>
          </a:p>
        </p:txBody>
      </p:sp>
      <p:sp>
        <p:nvSpPr>
          <p:cNvPr id="39" name="Text 29"/>
          <p:cNvSpPr txBox="1"/>
          <p:nvPr/>
        </p:nvSpPr>
        <p:spPr>
          <a:xfrm>
            <a:off x="8483803" y="3771900"/>
            <a:ext cx="2886761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Support for diverse engineering teams with native code generation across the most popular testing frameworks and languages.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8483803" y="5447995"/>
            <a:ext cx="866851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8568842" y="5505602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9474098" y="5447995"/>
            <a:ext cx="866851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9560052" y="5505602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10465308" y="5447995"/>
            <a:ext cx="590702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10550347" y="5505602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8483803" y="5848502"/>
            <a:ext cx="448056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8568842" y="5905195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9062618" y="5848502"/>
            <a:ext cx="314554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9148572" y="5905195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C#</a:t>
            </a:r>
            <a:endParaRPr lang="en-US" sz="900" dirty="0"/>
          </a:p>
        </p:txBody>
      </p:sp>
      <p:sp>
        <p:nvSpPr>
          <p:cNvPr id="50" name="Shape 40"/>
          <p:cNvSpPr/>
          <p:nvPr/>
        </p:nvSpPr>
        <p:spPr>
          <a:xfrm>
            <a:off x="9505188" y="5848502"/>
            <a:ext cx="1209751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1"/>
          <p:cNvSpPr txBox="1"/>
          <p:nvPr/>
        </p:nvSpPr>
        <p:spPr>
          <a:xfrm>
            <a:off x="9590227" y="5905195"/>
            <a:ext cx="11247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 Framework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457200" y="6858000"/>
            <a:ext cx="11277295" cy="1009498"/>
          </a:xfrm>
          <a:prstGeom prst="roundRect">
            <a:avLst>
              <a:gd name="adj" fmla="val 68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53" name="Text 43"/>
          <p:cNvSpPr txBox="1"/>
          <p:nvPr/>
        </p:nvSpPr>
        <p:spPr>
          <a:xfrm>
            <a:off x="694944" y="7114946"/>
            <a:ext cx="88148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B00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54" name="Shape 44"/>
          <p:cNvSpPr/>
          <p:nvPr/>
        </p:nvSpPr>
        <p:spPr>
          <a:xfrm>
            <a:off x="1954073" y="7210044"/>
            <a:ext cx="9144" cy="30449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190902" y="7286854"/>
            <a:ext cx="152705" cy="152705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2457907" y="7191756"/>
            <a:ext cx="11960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Rapid Authoring</a:t>
            </a:r>
            <a:endParaRPr lang="en-US" sz="1000" dirty="0"/>
          </a:p>
        </p:txBody>
      </p:sp>
      <p:sp>
        <p:nvSpPr>
          <p:cNvPr id="57" name="Text 46"/>
          <p:cNvSpPr txBox="1"/>
          <p:nvPr/>
        </p:nvSpPr>
        <p:spPr>
          <a:xfrm>
            <a:off x="2457907" y="7372807"/>
            <a:ext cx="1962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 script creation time by 70%</a:t>
            </a:r>
            <a:endParaRPr lang="en-US" sz="900" dirty="0"/>
          </a:p>
        </p:txBody>
      </p:sp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445252" y="7286854"/>
            <a:ext cx="152705" cy="152705"/>
          </a:xfrm>
          <a:prstGeom prst="rect">
            <a:avLst/>
          </a:prstGeom>
        </p:spPr>
      </p:pic>
      <p:sp>
        <p:nvSpPr>
          <p:cNvPr id="59" name="Text 47"/>
          <p:cNvSpPr txBox="1"/>
          <p:nvPr/>
        </p:nvSpPr>
        <p:spPr>
          <a:xfrm>
            <a:off x="5711342" y="7191756"/>
            <a:ext cx="11576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Standardization</a:t>
            </a:r>
            <a:endParaRPr lang="en-US" sz="1000" dirty="0"/>
          </a:p>
        </p:txBody>
      </p:sp>
      <p:sp>
        <p:nvSpPr>
          <p:cNvPr id="60" name="Text 48"/>
          <p:cNvSpPr txBox="1"/>
          <p:nvPr/>
        </p:nvSpPr>
        <p:spPr>
          <a:xfrm>
            <a:off x="5711342" y="7372807"/>
            <a:ext cx="2267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Consistent coding patterns across teams</a:t>
            </a:r>
            <a:endParaRPr lang="en-US" sz="900" dirty="0"/>
          </a:p>
        </p:txBody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rcRect l="-33" r="-33" t="0" b="0"/>
          <a:stretch/>
        </p:blipFill>
        <p:spPr>
          <a:xfrm>
            <a:off x="8699602" y="7286854"/>
            <a:ext cx="171907" cy="152705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8984894" y="7191756"/>
            <a:ext cx="11292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Low Code Entry</a:t>
            </a:r>
            <a:endParaRPr lang="en-US" sz="1000" dirty="0"/>
          </a:p>
        </p:txBody>
      </p:sp>
      <p:sp>
        <p:nvSpPr>
          <p:cNvPr id="63" name="Text 50"/>
          <p:cNvSpPr txBox="1"/>
          <p:nvPr/>
        </p:nvSpPr>
        <p:spPr>
          <a:xfrm>
            <a:off x="8984894" y="7372807"/>
            <a:ext cx="2305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Enable manual testers to contribute code</a:t>
            </a:r>
            <a:endParaRPr lang="en-US" sz="900" dirty="0"/>
          </a:p>
        </p:txBody>
      </p:sp>
      <p:sp>
        <p:nvSpPr>
          <p:cNvPr id="64" name="Text 51"/>
          <p:cNvSpPr txBox="1"/>
          <p:nvPr/>
        </p:nvSpPr>
        <p:spPr>
          <a:xfrm>
            <a:off x="8908999" y="6543446"/>
            <a:ext cx="2915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Confidential &amp; Proprietary | HSBC Group Technology</a:t>
            </a:r>
            <a:endParaRPr lang="en-US" sz="900" dirty="0"/>
          </a:p>
        </p:txBody>
      </p:sp>
      <p:sp>
        <p:nvSpPr>
          <p:cNvPr id="65" name="Shape 52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DB001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9235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3" b="-83"/>
          <a:stretch/>
        </p:blipFill>
        <p:spPr>
          <a:xfrm>
            <a:off x="457200" y="314554"/>
            <a:ext cx="1190549" cy="2862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29054" y="304495"/>
            <a:ext cx="9144" cy="30449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190902" y="295351"/>
            <a:ext cx="33439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AI-Powered Test Enhancement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930384" y="362102"/>
            <a:ext cx="19101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INTELLIGENT ASSURANCE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923544"/>
            <a:ext cx="12191695" cy="688634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1324051"/>
            <a:ext cx="81061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Leverage advanced artificial intelligence to automatically heal broken tests, optimize selector strategies, and apply enterprise-grade quality patterns, reducing maintenance overhead.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229307"/>
            <a:ext cx="3562502" cy="4000500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229307"/>
            <a:ext cx="3562502" cy="384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14" name="Shape 11"/>
          <p:cNvSpPr/>
          <p:nvPr/>
        </p:nvSpPr>
        <p:spPr>
          <a:xfrm>
            <a:off x="761695" y="2572207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CEBE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3602" y="274320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61695" y="3333902"/>
            <a:ext cx="22009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Quality Enhancement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61695" y="3771900"/>
            <a:ext cx="2915107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Automatically applies 24+ proven enhancement patterns to improve test reliability. Includes deep XPath analysis to replace brittle absolute paths with robust relative locators.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61695" y="5219395"/>
            <a:ext cx="2952598" cy="705002"/>
          </a:xfrm>
          <a:prstGeom prst="roundRect">
            <a:avLst>
              <a:gd name="adj" fmla="val 701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3544" y="5407762"/>
            <a:ext cx="133502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33856" y="5381244"/>
            <a:ext cx="14337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24+ Stability Patterns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-1507" r="-1507" t="0" b="0"/>
          <a:stretch/>
        </p:blipFill>
        <p:spPr>
          <a:xfrm>
            <a:off x="923544" y="5597957"/>
            <a:ext cx="171907" cy="1335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71346" y="5572354"/>
            <a:ext cx="13194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XPath Optimization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317797" y="2229307"/>
            <a:ext cx="3562502" cy="4000500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317797" y="2229307"/>
            <a:ext cx="3562502" cy="384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25" name="Shape 19"/>
          <p:cNvSpPr/>
          <p:nvPr/>
        </p:nvSpPr>
        <p:spPr>
          <a:xfrm>
            <a:off x="4623206" y="2572207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CEBE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5" b="-45"/>
          <a:stretch/>
        </p:blipFill>
        <p:spPr>
          <a:xfrm>
            <a:off x="4779569" y="2743200"/>
            <a:ext cx="256946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23206" y="3333902"/>
            <a:ext cx="21625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Self-Healing Locators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623206" y="3771900"/>
            <a:ext cx="3057754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Tests adapt to UI changes automatically. When a primary locator fails, the system instantly attempts pre-calculated fallback strategies to keep execution running without manual intervention.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623206" y="5219395"/>
            <a:ext cx="2952598" cy="705002"/>
          </a:xfrm>
          <a:prstGeom prst="roundRect">
            <a:avLst>
              <a:gd name="adj" fmla="val 701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785055" y="5407762"/>
            <a:ext cx="133502" cy="1335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994453" y="5381244"/>
            <a:ext cx="12911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Automatic Fallback</a:t>
            </a:r>
            <a:endParaRPr lang="en-US" sz="10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785055" y="5597957"/>
            <a:ext cx="133502" cy="13350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4994453" y="5572354"/>
            <a:ext cx="12335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Runtime Recovery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8178394" y="2229307"/>
            <a:ext cx="3562502" cy="4000500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8178394" y="2229307"/>
            <a:ext cx="3562502" cy="384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6" name="Shape 27"/>
          <p:cNvSpPr/>
          <p:nvPr/>
        </p:nvSpPr>
        <p:spPr>
          <a:xfrm>
            <a:off x="8483803" y="2572207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CEBEB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654796" y="2743200"/>
            <a:ext cx="228600" cy="22860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483803" y="3333902"/>
            <a:ext cx="1638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Smart Selectors</a:t>
            </a:r>
            <a:endParaRPr lang="en-US" sz="1500" dirty="0"/>
          </a:p>
        </p:txBody>
      </p:sp>
      <p:sp>
        <p:nvSpPr>
          <p:cNvPr id="39" name="Text 29"/>
          <p:cNvSpPr txBox="1"/>
          <p:nvPr/>
        </p:nvSpPr>
        <p:spPr>
          <a:xfrm>
            <a:off x="8483803" y="3771900"/>
            <a:ext cx="3020263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Context-aware generation prioritizes the most stable attributes. Automatically upgrades weak selectors to robust identifiers based on the application structure.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8483803" y="5658307"/>
            <a:ext cx="590702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8568842" y="5715000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TestID</a:t>
            </a:r>
            <a:endParaRPr lang="en-US" sz="9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9143086" y="5734202"/>
            <a:ext cx="105156" cy="114300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9324137" y="5658307"/>
            <a:ext cx="314554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33"/>
          <p:cNvSpPr txBox="1"/>
          <p:nvPr/>
        </p:nvSpPr>
        <p:spPr>
          <a:xfrm>
            <a:off x="9409176" y="5715000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rcRect l="-2571" r="-2571" t="0" b="0"/>
          <a:stretch/>
        </p:blipFill>
        <p:spPr>
          <a:xfrm>
            <a:off x="9709099" y="5734202"/>
            <a:ext cx="105156" cy="114300"/>
          </a:xfrm>
          <a:prstGeom prst="rect">
            <a:avLst/>
          </a:prstGeom>
        </p:spPr>
      </p:pic>
      <p:sp>
        <p:nvSpPr>
          <p:cNvPr id="46" name="Shape 34"/>
          <p:cNvSpPr/>
          <p:nvPr/>
        </p:nvSpPr>
        <p:spPr>
          <a:xfrm>
            <a:off x="9889236" y="5658307"/>
            <a:ext cx="381305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35"/>
          <p:cNvSpPr txBox="1"/>
          <p:nvPr/>
        </p:nvSpPr>
        <p:spPr>
          <a:xfrm>
            <a:off x="9975190" y="5715000"/>
            <a:ext cx="295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en-US" sz="900" dirty="0"/>
          </a:p>
        </p:txBody>
      </p:sp>
      <p:sp>
        <p:nvSpPr>
          <p:cNvPr id="48" name="Shape 36"/>
          <p:cNvSpPr/>
          <p:nvPr/>
        </p:nvSpPr>
        <p:spPr>
          <a:xfrm>
            <a:off x="457200" y="6610198"/>
            <a:ext cx="11277295" cy="819302"/>
          </a:xfrm>
          <a:prstGeom prst="roundRect">
            <a:avLst>
              <a:gd name="adj" fmla="val 103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9" name="Text 37"/>
          <p:cNvSpPr txBox="1"/>
          <p:nvPr/>
        </p:nvSpPr>
        <p:spPr>
          <a:xfrm>
            <a:off x="694944" y="6905549"/>
            <a:ext cx="7388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B00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</a:t>
            </a:r>
            <a:endParaRPr lang="en-US" sz="1300" dirty="0"/>
          </a:p>
        </p:txBody>
      </p:sp>
      <p:sp>
        <p:nvSpPr>
          <p:cNvPr id="50" name="Shape 38"/>
          <p:cNvSpPr/>
          <p:nvPr/>
        </p:nvSpPr>
        <p:spPr>
          <a:xfrm>
            <a:off x="1531620" y="6867144"/>
            <a:ext cx="9144" cy="30449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770278" y="6943954"/>
            <a:ext cx="152705" cy="152705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2036369" y="6848856"/>
            <a:ext cx="11676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Lower Flakiness</a:t>
            </a:r>
            <a:endParaRPr lang="en-US" sz="1000" dirty="0"/>
          </a:p>
        </p:txBody>
      </p:sp>
      <p:sp>
        <p:nvSpPr>
          <p:cNvPr id="53" name="Text 40"/>
          <p:cNvSpPr txBox="1"/>
          <p:nvPr/>
        </p:nvSpPr>
        <p:spPr>
          <a:xfrm>
            <a:off x="2036369" y="7029907"/>
            <a:ext cx="17437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 false positives by &gt;60%</a:t>
            </a:r>
            <a:endParaRPr lang="en-US" sz="900" dirty="0"/>
          </a:p>
        </p:txBody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164531" y="6943954"/>
            <a:ext cx="152705" cy="152705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5431536" y="6848856"/>
            <a:ext cx="7763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Resilience</a:t>
            </a:r>
            <a:endParaRPr lang="en-US" sz="1000" dirty="0"/>
          </a:p>
        </p:txBody>
      </p:sp>
      <p:sp>
        <p:nvSpPr>
          <p:cNvPr id="56" name="Text 42"/>
          <p:cNvSpPr txBox="1"/>
          <p:nvPr/>
        </p:nvSpPr>
        <p:spPr>
          <a:xfrm>
            <a:off x="5431536" y="7029907"/>
            <a:ext cx="17437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Tests survive minor UI updates</a:t>
            </a:r>
            <a:endParaRPr lang="en-US" sz="900" dirty="0"/>
          </a:p>
        </p:txBody>
      </p:sp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558784" y="6943954"/>
            <a:ext cx="152705" cy="152705"/>
          </a:xfrm>
          <a:prstGeom prst="rect">
            <a:avLst/>
          </a:prstGeom>
        </p:spPr>
      </p:pic>
      <p:sp>
        <p:nvSpPr>
          <p:cNvPr id="58" name="Text 43"/>
          <p:cNvSpPr txBox="1"/>
          <p:nvPr/>
        </p:nvSpPr>
        <p:spPr>
          <a:xfrm>
            <a:off x="8825789" y="6848856"/>
            <a:ext cx="9006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59" name="Text 44"/>
          <p:cNvSpPr txBox="1"/>
          <p:nvPr/>
        </p:nvSpPr>
        <p:spPr>
          <a:xfrm>
            <a:off x="8825789" y="7029907"/>
            <a:ext cx="17812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Context-aware decision making</a:t>
            </a:r>
            <a:endParaRPr lang="en-US" sz="900" dirty="0"/>
          </a:p>
        </p:txBody>
      </p:sp>
      <p:sp>
        <p:nvSpPr>
          <p:cNvPr id="60" name="Text 45"/>
          <p:cNvSpPr txBox="1"/>
          <p:nvPr/>
        </p:nvSpPr>
        <p:spPr>
          <a:xfrm>
            <a:off x="8908999" y="6543446"/>
            <a:ext cx="2915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Confidential &amp; Proprietary | HSBC Group Technology</a:t>
            </a:r>
            <a:endParaRPr lang="en-US" sz="900" dirty="0"/>
          </a:p>
        </p:txBody>
      </p:sp>
      <p:sp>
        <p:nvSpPr>
          <p:cNvPr id="61" name="Shape 46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DB001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9235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3" b="-83"/>
          <a:stretch/>
        </p:blipFill>
        <p:spPr>
          <a:xfrm>
            <a:off x="457200" y="314554"/>
            <a:ext cx="1190549" cy="2862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29054" y="304495"/>
            <a:ext cx="9144" cy="30449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190902" y="295351"/>
            <a:ext cx="35725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 Management &amp; Governance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092233" y="362102"/>
            <a:ext cx="17483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 &amp; WORKFLOW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923544"/>
            <a:ext cx="12191695" cy="593445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1228954"/>
            <a:ext cx="27432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Project-Based Organization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1628546"/>
            <a:ext cx="62865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Centralized repository structure ensures consistency across all testing assets. Features strict version control, script history tracking, and role-based permissions to maintain audit readiness at all times.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303666" y="1228954"/>
            <a:ext cx="1742846" cy="362102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33" r="-33" t="0" b="0"/>
          <a:stretch/>
        </p:blipFill>
        <p:spPr>
          <a:xfrm>
            <a:off x="8465515" y="1333195"/>
            <a:ext cx="171907" cy="1527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751722" y="1314907"/>
            <a:ext cx="12335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Batch Operations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10197389" y="1228954"/>
            <a:ext cx="1543507" cy="362102"/>
          </a:xfrm>
          <a:prstGeom prst="roundRect">
            <a:avLst>
              <a:gd name="adj" fmla="val 265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3" b="-43"/>
          <a:stretch/>
        </p:blipFill>
        <p:spPr>
          <a:xfrm>
            <a:off x="10359238" y="1333195"/>
            <a:ext cx="133502" cy="1527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607040" y="1314907"/>
            <a:ext cx="10716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 Integration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734056"/>
            <a:ext cx="11277295" cy="2933395"/>
          </a:xfrm>
          <a:prstGeom prst="roundRect">
            <a:avLst>
              <a:gd name="adj" fmla="val 12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4835347" y="3038551"/>
            <a:ext cx="2610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STANDARDIZED 6-STEP QA WORKFLOW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2676449" y="4028846"/>
            <a:ext cx="28346" cy="384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17"/>
          <p:cNvSpPr/>
          <p:nvPr/>
        </p:nvSpPr>
        <p:spPr>
          <a:xfrm>
            <a:off x="2676449" y="4028846"/>
            <a:ext cx="28346" cy="38405"/>
          </a:xfrm>
          <a:prstGeom prst="rect">
            <a:avLst/>
          </a:prstGeom>
          <a:solidFill>
            <a:srgbClr val="DB0011">
              <a:alpha val="20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4379976" y="4028846"/>
            <a:ext cx="28346" cy="384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Shape 19"/>
          <p:cNvSpPr/>
          <p:nvPr/>
        </p:nvSpPr>
        <p:spPr>
          <a:xfrm>
            <a:off x="6082589" y="4028846"/>
            <a:ext cx="28346" cy="384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Shape 20"/>
          <p:cNvSpPr/>
          <p:nvPr/>
        </p:nvSpPr>
        <p:spPr>
          <a:xfrm>
            <a:off x="7785202" y="4028846"/>
            <a:ext cx="28346" cy="384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Shape 21"/>
          <p:cNvSpPr/>
          <p:nvPr/>
        </p:nvSpPr>
        <p:spPr>
          <a:xfrm>
            <a:off x="9488729" y="4028846"/>
            <a:ext cx="28346" cy="384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2"/>
          <p:cNvSpPr/>
          <p:nvPr/>
        </p:nvSpPr>
        <p:spPr>
          <a:xfrm>
            <a:off x="457200" y="5971946"/>
            <a:ext cx="3610051" cy="875995"/>
          </a:xfrm>
          <a:prstGeom prst="roundRect">
            <a:avLst>
              <a:gd name="adj" fmla="val 4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57200" y="5971946"/>
            <a:ext cx="28346" cy="875995"/>
          </a:xfrm>
          <a:prstGeom prst="rect">
            <a:avLst/>
          </a:prstGeom>
          <a:solidFill>
            <a:srgbClr val="DB0011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0" b="-100"/>
          <a:stretch/>
        </p:blipFill>
        <p:spPr>
          <a:xfrm>
            <a:off x="638251" y="6143854"/>
            <a:ext cx="114300" cy="15270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66851" y="6124651"/>
            <a:ext cx="881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Traceability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905256" y="6381598"/>
            <a:ext cx="28959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 audit trail linking requirements to test execution and results.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4292194" y="5971946"/>
            <a:ext cx="3610051" cy="875995"/>
          </a:xfrm>
          <a:prstGeom prst="roundRect">
            <a:avLst>
              <a:gd name="adj" fmla="val 4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292194" y="5971946"/>
            <a:ext cx="28346" cy="875995"/>
          </a:xfrm>
          <a:prstGeom prst="rect">
            <a:avLst/>
          </a:prstGeom>
          <a:solidFill>
            <a:srgbClr val="DB0011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80" b="-180"/>
          <a:stretch/>
        </p:blipFill>
        <p:spPr>
          <a:xfrm>
            <a:off x="4473245" y="6143854"/>
            <a:ext cx="190195" cy="15270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4778654" y="6124651"/>
            <a:ext cx="7671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Approvals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4740250" y="6381598"/>
            <a:ext cx="29059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Gated workflows requiring review before merging to master branch.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8128102" y="5971946"/>
            <a:ext cx="3610051" cy="875995"/>
          </a:xfrm>
          <a:prstGeom prst="roundRect">
            <a:avLst>
              <a:gd name="adj" fmla="val 4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128102" y="5971946"/>
            <a:ext cx="28346" cy="875995"/>
          </a:xfrm>
          <a:prstGeom prst="rect">
            <a:avLst/>
          </a:prstGeom>
          <a:solidFill>
            <a:srgbClr val="DB0011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309153" y="6143854"/>
            <a:ext cx="152705" cy="152705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8575243" y="6124651"/>
            <a:ext cx="11576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Standardization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8575243" y="6381598"/>
            <a:ext cx="28291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Enforced patterns and templates across all delivery teams.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8908999" y="6543446"/>
            <a:ext cx="2915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Confidential &amp; Proprietary | HSBC Group Technology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44" name="Shape 36"/>
          <p:cNvSpPr/>
          <p:nvPr/>
        </p:nvSpPr>
        <p:spPr>
          <a:xfrm>
            <a:off x="1076249" y="4496105"/>
            <a:ext cx="1524305" cy="857707"/>
          </a:xfrm>
          <a:prstGeom prst="roundRect">
            <a:avLst>
              <a:gd name="adj" fmla="val 94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1828800" y="4438498"/>
            <a:ext cx="114300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1529791" y="4657954"/>
            <a:ext cx="719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Generate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1403604" y="4876495"/>
            <a:ext cx="9628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Record &amp; Create Script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1533449" y="3657600"/>
            <a:ext cx="609905" cy="609905"/>
          </a:xfrm>
          <a:prstGeom prst="ellipse">
            <a:avLst/>
          </a:prstGeom>
          <a:solidFill>
            <a:srgbClr val="DB0011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5" b="-45"/>
          <a:stretch/>
        </p:blipFill>
        <p:spPr>
          <a:xfrm>
            <a:off x="1709928" y="3847795"/>
            <a:ext cx="256946" cy="228600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2009851" y="3562502"/>
            <a:ext cx="228600" cy="228600"/>
          </a:xfrm>
          <a:prstGeom prst="ellipse">
            <a:avLst/>
          </a:prstGeom>
          <a:solidFill>
            <a:srgbClr val="2D2D2D"/>
          </a:solidFill>
          <a:ln/>
        </p:spPr>
      </p:sp>
      <p:sp>
        <p:nvSpPr>
          <p:cNvPr id="51" name="Text 42"/>
          <p:cNvSpPr txBox="1"/>
          <p:nvPr/>
        </p:nvSpPr>
        <p:spPr>
          <a:xfrm>
            <a:off x="2091233" y="3590849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2779776" y="4572000"/>
            <a:ext cx="1524305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3" name="Shape 44"/>
          <p:cNvSpPr/>
          <p:nvPr/>
        </p:nvSpPr>
        <p:spPr>
          <a:xfrm>
            <a:off x="3531413" y="4515307"/>
            <a:ext cx="114300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45"/>
          <p:cNvSpPr txBox="1"/>
          <p:nvPr/>
        </p:nvSpPr>
        <p:spPr>
          <a:xfrm>
            <a:off x="3259836" y="4733849"/>
            <a:ext cx="6720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Enhance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3122676" y="4953305"/>
            <a:ext cx="924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Optimization</a:t>
            </a:r>
            <a:endParaRPr lang="en-US" sz="900" dirty="0"/>
          </a:p>
        </p:txBody>
      </p:sp>
      <p:sp>
        <p:nvSpPr>
          <p:cNvPr id="56" name="Shape 47"/>
          <p:cNvSpPr/>
          <p:nvPr/>
        </p:nvSpPr>
        <p:spPr>
          <a:xfrm>
            <a:off x="3236976" y="3733495"/>
            <a:ext cx="609905" cy="6099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5" b="-45"/>
          <a:stretch/>
        </p:blipFill>
        <p:spPr>
          <a:xfrm>
            <a:off x="3412541" y="3924605"/>
            <a:ext cx="256946" cy="228600"/>
          </a:xfrm>
          <a:prstGeom prst="rect">
            <a:avLst/>
          </a:prstGeom>
        </p:spPr>
      </p:pic>
      <p:sp>
        <p:nvSpPr>
          <p:cNvPr id="58" name="Shape 48"/>
          <p:cNvSpPr/>
          <p:nvPr/>
        </p:nvSpPr>
        <p:spPr>
          <a:xfrm>
            <a:off x="3694176" y="3657600"/>
            <a:ext cx="228600" cy="228600"/>
          </a:xfrm>
          <a:prstGeom prst="ellipse">
            <a:avLst/>
          </a:prstGeom>
          <a:solidFill>
            <a:srgbClr val="2D2D2D"/>
          </a:solidFill>
          <a:ln/>
        </p:spPr>
      </p:sp>
      <p:sp>
        <p:nvSpPr>
          <p:cNvPr id="59" name="Text 49"/>
          <p:cNvSpPr txBox="1"/>
          <p:nvPr/>
        </p:nvSpPr>
        <p:spPr>
          <a:xfrm>
            <a:off x="3775558" y="3685946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00" dirty="0"/>
          </a:p>
        </p:txBody>
      </p:sp>
      <p:sp>
        <p:nvSpPr>
          <p:cNvPr id="60" name="Shape 50"/>
          <p:cNvSpPr/>
          <p:nvPr/>
        </p:nvSpPr>
        <p:spPr>
          <a:xfrm>
            <a:off x="4482389" y="4572000"/>
            <a:ext cx="1524305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61" name="Shape 51"/>
          <p:cNvSpPr/>
          <p:nvPr/>
        </p:nvSpPr>
        <p:spPr>
          <a:xfrm>
            <a:off x="5234940" y="4515307"/>
            <a:ext cx="114300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52"/>
          <p:cNvSpPr txBox="1"/>
          <p:nvPr/>
        </p:nvSpPr>
        <p:spPr>
          <a:xfrm>
            <a:off x="4933188" y="4733849"/>
            <a:ext cx="7287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 Data</a:t>
            </a:r>
            <a:endParaRPr lang="en-US" sz="1000" dirty="0"/>
          </a:p>
        </p:txBody>
      </p:sp>
      <p:sp>
        <p:nvSpPr>
          <p:cNvPr id="63" name="Text 53"/>
          <p:cNvSpPr txBox="1"/>
          <p:nvPr/>
        </p:nvSpPr>
        <p:spPr>
          <a:xfrm>
            <a:off x="4861865" y="4953305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Bind Variables</a:t>
            </a:r>
            <a:endParaRPr lang="en-US" sz="900" dirty="0"/>
          </a:p>
        </p:txBody>
      </p:sp>
      <p:sp>
        <p:nvSpPr>
          <p:cNvPr id="64" name="Shape 54"/>
          <p:cNvSpPr/>
          <p:nvPr/>
        </p:nvSpPr>
        <p:spPr>
          <a:xfrm>
            <a:off x="4939589" y="3733495"/>
            <a:ext cx="609905" cy="6099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65" name="Image 8" descr="preencoded.png">    </p:cNvPr>
          <p:cNvPicPr>
            <a:picLocks noChangeAspect="1"/>
          </p:cNvPicPr>
          <p:nvPr/>
        </p:nvPicPr>
        <p:blipFill>
          <a:blip r:embed="rId9"/>
          <a:srcRect l="-57" r="-57" t="0" b="0"/>
          <a:stretch/>
        </p:blipFill>
        <p:spPr>
          <a:xfrm>
            <a:off x="5144414" y="3924605"/>
            <a:ext cx="200254" cy="228600"/>
          </a:xfrm>
          <a:prstGeom prst="rect">
            <a:avLst/>
          </a:prstGeom>
        </p:spPr>
      </p:pic>
      <p:sp>
        <p:nvSpPr>
          <p:cNvPr id="66" name="Shape 55"/>
          <p:cNvSpPr/>
          <p:nvPr/>
        </p:nvSpPr>
        <p:spPr>
          <a:xfrm>
            <a:off x="5396789" y="3657600"/>
            <a:ext cx="228600" cy="228600"/>
          </a:xfrm>
          <a:prstGeom prst="ellipse">
            <a:avLst/>
          </a:prstGeom>
          <a:solidFill>
            <a:srgbClr val="2D2D2D"/>
          </a:solidFill>
          <a:ln/>
        </p:spPr>
      </p:sp>
      <p:sp>
        <p:nvSpPr>
          <p:cNvPr id="67" name="Text 56"/>
          <p:cNvSpPr txBox="1"/>
          <p:nvPr/>
        </p:nvSpPr>
        <p:spPr>
          <a:xfrm>
            <a:off x="5478170" y="3685946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00" dirty="0"/>
          </a:p>
        </p:txBody>
      </p:sp>
      <p:sp>
        <p:nvSpPr>
          <p:cNvPr id="68" name="Shape 57"/>
          <p:cNvSpPr/>
          <p:nvPr/>
        </p:nvSpPr>
        <p:spPr>
          <a:xfrm>
            <a:off x="6185002" y="4572000"/>
            <a:ext cx="1524305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69" name="Shape 58"/>
          <p:cNvSpPr/>
          <p:nvPr/>
        </p:nvSpPr>
        <p:spPr>
          <a:xfrm>
            <a:off x="6937553" y="4515307"/>
            <a:ext cx="114300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59"/>
          <p:cNvSpPr txBox="1"/>
          <p:nvPr/>
        </p:nvSpPr>
        <p:spPr>
          <a:xfrm>
            <a:off x="6675120" y="4733849"/>
            <a:ext cx="6528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Validate</a:t>
            </a:r>
            <a:endParaRPr lang="en-US" sz="1000" dirty="0"/>
          </a:p>
        </p:txBody>
      </p:sp>
      <p:sp>
        <p:nvSpPr>
          <p:cNvPr id="71" name="Text 60"/>
          <p:cNvSpPr txBox="1"/>
          <p:nvPr/>
        </p:nvSpPr>
        <p:spPr>
          <a:xfrm>
            <a:off x="6473952" y="4953305"/>
            <a:ext cx="10387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Dry Run &amp; Review</a:t>
            </a:r>
            <a:endParaRPr lang="en-US" sz="900" dirty="0"/>
          </a:p>
        </p:txBody>
      </p:sp>
      <p:sp>
        <p:nvSpPr>
          <p:cNvPr id="72" name="Shape 61"/>
          <p:cNvSpPr/>
          <p:nvPr/>
        </p:nvSpPr>
        <p:spPr>
          <a:xfrm>
            <a:off x="6642202" y="3733495"/>
            <a:ext cx="609905" cy="6099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73" name="Image 9" descr="preencoded.png">    </p:cNvPr>
          <p:cNvPicPr>
            <a:picLocks noChangeAspect="1"/>
          </p:cNvPicPr>
          <p:nvPr/>
        </p:nvPicPr>
        <p:blipFill>
          <a:blip r:embed="rId10"/>
          <a:srcRect l="-57" r="-57" t="0" b="0"/>
          <a:stretch/>
        </p:blipFill>
        <p:spPr>
          <a:xfrm>
            <a:off x="6847027" y="3924605"/>
            <a:ext cx="200254" cy="228600"/>
          </a:xfrm>
          <a:prstGeom prst="rect">
            <a:avLst/>
          </a:prstGeom>
        </p:spPr>
      </p:pic>
      <p:sp>
        <p:nvSpPr>
          <p:cNvPr id="74" name="Shape 62"/>
          <p:cNvSpPr/>
          <p:nvPr/>
        </p:nvSpPr>
        <p:spPr>
          <a:xfrm>
            <a:off x="7099402" y="3657600"/>
            <a:ext cx="228600" cy="228600"/>
          </a:xfrm>
          <a:prstGeom prst="ellipse">
            <a:avLst/>
          </a:prstGeom>
          <a:solidFill>
            <a:srgbClr val="2D2D2D"/>
          </a:solidFill>
          <a:ln/>
        </p:spPr>
      </p:sp>
      <p:sp>
        <p:nvSpPr>
          <p:cNvPr id="75" name="Text 63"/>
          <p:cNvSpPr txBox="1"/>
          <p:nvPr/>
        </p:nvSpPr>
        <p:spPr>
          <a:xfrm>
            <a:off x="7181698" y="3685946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00" dirty="0"/>
          </a:p>
        </p:txBody>
      </p:sp>
      <p:sp>
        <p:nvSpPr>
          <p:cNvPr id="76" name="Shape 64"/>
          <p:cNvSpPr/>
          <p:nvPr/>
        </p:nvSpPr>
        <p:spPr>
          <a:xfrm>
            <a:off x="7888529" y="4572000"/>
            <a:ext cx="1524305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77" name="Shape 65"/>
          <p:cNvSpPr/>
          <p:nvPr/>
        </p:nvSpPr>
        <p:spPr>
          <a:xfrm>
            <a:off x="8641080" y="4515307"/>
            <a:ext cx="114300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66"/>
          <p:cNvSpPr txBox="1"/>
          <p:nvPr/>
        </p:nvSpPr>
        <p:spPr>
          <a:xfrm>
            <a:off x="8389620" y="4733849"/>
            <a:ext cx="6245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Execute</a:t>
            </a:r>
            <a:endParaRPr lang="en-US" sz="1000" dirty="0"/>
          </a:p>
        </p:txBody>
      </p:sp>
      <p:sp>
        <p:nvSpPr>
          <p:cNvPr id="79" name="Text 67"/>
          <p:cNvSpPr txBox="1"/>
          <p:nvPr/>
        </p:nvSpPr>
        <p:spPr>
          <a:xfrm>
            <a:off x="8141818" y="4953305"/>
            <a:ext cx="1105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 Cross-Browser</a:t>
            </a:r>
            <a:endParaRPr lang="en-US" sz="900" dirty="0"/>
          </a:p>
        </p:txBody>
      </p:sp>
      <p:sp>
        <p:nvSpPr>
          <p:cNvPr id="80" name="Shape 68"/>
          <p:cNvSpPr/>
          <p:nvPr/>
        </p:nvSpPr>
        <p:spPr>
          <a:xfrm>
            <a:off x="8345729" y="3733495"/>
            <a:ext cx="609905" cy="6099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81" name="Image 10" descr="preencoded.png">    </p:cNvPr>
          <p:cNvPicPr>
            <a:picLocks noChangeAspect="1"/>
          </p:cNvPicPr>
          <p:nvPr/>
        </p:nvPicPr>
        <p:blipFill>
          <a:blip r:embed="rId11"/>
          <a:srcRect l="-133" r="-133" t="0" b="0"/>
          <a:stretch/>
        </p:blipFill>
        <p:spPr>
          <a:xfrm>
            <a:off x="8565185" y="3924605"/>
            <a:ext cx="171907" cy="228600"/>
          </a:xfrm>
          <a:prstGeom prst="rect">
            <a:avLst/>
          </a:prstGeom>
        </p:spPr>
      </p:pic>
      <p:sp>
        <p:nvSpPr>
          <p:cNvPr id="82" name="Shape 69"/>
          <p:cNvSpPr/>
          <p:nvPr/>
        </p:nvSpPr>
        <p:spPr>
          <a:xfrm>
            <a:off x="8802929" y="3657600"/>
            <a:ext cx="228600" cy="228600"/>
          </a:xfrm>
          <a:prstGeom prst="ellipse">
            <a:avLst/>
          </a:prstGeom>
          <a:solidFill>
            <a:srgbClr val="2D2D2D"/>
          </a:solidFill>
          <a:ln/>
        </p:spPr>
      </p:sp>
      <p:sp>
        <p:nvSpPr>
          <p:cNvPr id="83" name="Text 70"/>
          <p:cNvSpPr txBox="1"/>
          <p:nvPr/>
        </p:nvSpPr>
        <p:spPr>
          <a:xfrm>
            <a:off x="8884310" y="3685946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900" dirty="0"/>
          </a:p>
        </p:txBody>
      </p:sp>
      <p:sp>
        <p:nvSpPr>
          <p:cNvPr id="84" name="Shape 71"/>
          <p:cNvSpPr/>
          <p:nvPr/>
        </p:nvSpPr>
        <p:spPr>
          <a:xfrm>
            <a:off x="9591142" y="4572000"/>
            <a:ext cx="1524305" cy="705002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85" name="Shape 72"/>
          <p:cNvSpPr/>
          <p:nvPr/>
        </p:nvSpPr>
        <p:spPr>
          <a:xfrm>
            <a:off x="10343693" y="4515307"/>
            <a:ext cx="114300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73"/>
          <p:cNvSpPr txBox="1"/>
          <p:nvPr/>
        </p:nvSpPr>
        <p:spPr>
          <a:xfrm>
            <a:off x="10101377" y="4733849"/>
            <a:ext cx="6053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Finalize</a:t>
            </a:r>
            <a:endParaRPr lang="en-US" sz="1000" dirty="0"/>
          </a:p>
        </p:txBody>
      </p:sp>
      <p:sp>
        <p:nvSpPr>
          <p:cNvPr id="87" name="Text 74"/>
          <p:cNvSpPr txBox="1"/>
          <p:nvPr/>
        </p:nvSpPr>
        <p:spPr>
          <a:xfrm>
            <a:off x="9891065" y="4953305"/>
            <a:ext cx="10195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Report &amp; Sign-off</a:t>
            </a:r>
            <a:endParaRPr lang="en-US" sz="900" dirty="0"/>
          </a:p>
        </p:txBody>
      </p:sp>
      <p:sp>
        <p:nvSpPr>
          <p:cNvPr id="88" name="Shape 75"/>
          <p:cNvSpPr/>
          <p:nvPr/>
        </p:nvSpPr>
        <p:spPr>
          <a:xfrm>
            <a:off x="10048342" y="3733495"/>
            <a:ext cx="609905" cy="6099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89" name="Image 11" descr="preencoded.png">    </p:cNvPr>
          <p:cNvPicPr>
            <a:picLocks noChangeAspect="1"/>
          </p:cNvPicPr>
          <p:nvPr/>
        </p:nvPicPr>
        <p:blipFill>
          <a:blip r:embed="rId12"/>
          <a:srcRect l="-57" r="-57" t="0" b="0"/>
          <a:stretch/>
        </p:blipFill>
        <p:spPr>
          <a:xfrm>
            <a:off x="10253167" y="3924605"/>
            <a:ext cx="200254" cy="228600"/>
          </a:xfrm>
          <a:prstGeom prst="rect">
            <a:avLst/>
          </a:prstGeom>
        </p:spPr>
      </p:pic>
      <p:sp>
        <p:nvSpPr>
          <p:cNvPr id="90" name="Shape 76"/>
          <p:cNvSpPr/>
          <p:nvPr/>
        </p:nvSpPr>
        <p:spPr>
          <a:xfrm>
            <a:off x="10505542" y="3657600"/>
            <a:ext cx="228600" cy="228600"/>
          </a:xfrm>
          <a:prstGeom prst="ellipse">
            <a:avLst/>
          </a:prstGeom>
          <a:solidFill>
            <a:srgbClr val="2D2D2D"/>
          </a:solidFill>
          <a:ln/>
        </p:spPr>
      </p:sp>
      <p:sp>
        <p:nvSpPr>
          <p:cNvPr id="91" name="Text 77"/>
          <p:cNvSpPr txBox="1"/>
          <p:nvPr/>
        </p:nvSpPr>
        <p:spPr>
          <a:xfrm>
            <a:off x="10587838" y="3685946"/>
            <a:ext cx="152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9235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3" b="-83"/>
          <a:stretch/>
        </p:blipFill>
        <p:spPr>
          <a:xfrm>
            <a:off x="457200" y="314554"/>
            <a:ext cx="1190549" cy="2862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29054" y="304495"/>
            <a:ext cx="9144" cy="30449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190902" y="295351"/>
            <a:ext cx="19056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Testing Suite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367467" y="362102"/>
            <a:ext cx="14721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CAPABILITIES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923544"/>
            <a:ext cx="12191695" cy="7153351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1324051"/>
            <a:ext cx="85633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Unified interface for validating backend services with comprehensive REST support, ensuring data integrity and contract compliance before UI integration.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229307"/>
            <a:ext cx="3562502" cy="4076395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229307"/>
            <a:ext cx="3562502" cy="384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14" name="Shape 11"/>
          <p:cNvSpPr/>
          <p:nvPr/>
        </p:nvSpPr>
        <p:spPr>
          <a:xfrm>
            <a:off x="761695" y="2572207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CEBE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3602" y="274320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61695" y="3333902"/>
            <a:ext cx="1524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 Interface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61695" y="3771900"/>
            <a:ext cx="3038551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 request builder supporting all HTTP methods (GET, POST, PUT, DELETE). Includes environment variable substitution for seamless switching between dev, staging, and prod.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61695" y="5219395"/>
            <a:ext cx="2952598" cy="780898"/>
          </a:xfrm>
          <a:prstGeom prst="roundRect">
            <a:avLst>
              <a:gd name="adj" fmla="val 571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23544" y="5372100"/>
            <a:ext cx="762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SUPPORTED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923544" y="5609844"/>
            <a:ext cx="371246" cy="228600"/>
          </a:xfrm>
          <a:prstGeom prst="roundRect">
            <a:avLst>
              <a:gd name="adj" fmla="val 66667"/>
            </a:avLst>
          </a:prstGeom>
          <a:solidFill>
            <a:srgbClr val="D1FAE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1000354" y="5639105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1365199" y="5609844"/>
            <a:ext cx="448056" cy="228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1441094" y="5639105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1884578" y="5609844"/>
            <a:ext cx="381305" cy="228600"/>
          </a:xfrm>
          <a:prstGeom prst="roundRect">
            <a:avLst>
              <a:gd name="adj" fmla="val 66667"/>
            </a:avLst>
          </a:prstGeom>
          <a:solidFill>
            <a:srgbClr val="FEF3C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1960474" y="5639105"/>
            <a:ext cx="3145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PUT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2336292" y="5609844"/>
            <a:ext cx="371246" cy="228600"/>
          </a:xfrm>
          <a:prstGeom prst="roundRect">
            <a:avLst>
              <a:gd name="adj" fmla="val 66667"/>
            </a:avLst>
          </a:prstGeom>
          <a:solidFill>
            <a:srgbClr val="FEE2E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2412187" y="5639105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317797" y="2229307"/>
            <a:ext cx="3562502" cy="4076395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317797" y="2229307"/>
            <a:ext cx="3562502" cy="384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0" name="Shape 26"/>
          <p:cNvSpPr/>
          <p:nvPr/>
        </p:nvSpPr>
        <p:spPr>
          <a:xfrm>
            <a:off x="4623206" y="2572207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CEBEB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rcRect l="-57" r="-57" t="0" b="0"/>
          <a:stretch/>
        </p:blipFill>
        <p:spPr>
          <a:xfrm>
            <a:off x="4808830" y="2743200"/>
            <a:ext cx="200254" cy="22860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4623206" y="3333902"/>
            <a:ext cx="17721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Smart Assertions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4623206" y="3771900"/>
            <a:ext cx="2953512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Validate status codes, response times, and JSON body structure. Contract testing ensures backend APIs adhere to defined Swagger/OpenAPI specifications.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4623206" y="5319065"/>
            <a:ext cx="2952598" cy="68580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4708246" y="5404104"/>
            <a:ext cx="1467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Example Assertion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4708246" y="5595214"/>
            <a:ext cx="193761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expect(res.status).toBe(200);</a:t>
            </a:r>
            <a:endParaRPr lang="en-US" sz="800" dirty="0"/>
          </a:p>
        </p:txBody>
      </p:sp>
      <p:sp>
        <p:nvSpPr>
          <p:cNvPr id="37" name="Text 32"/>
          <p:cNvSpPr txBox="1"/>
          <p:nvPr/>
        </p:nvSpPr>
        <p:spPr>
          <a:xfrm>
            <a:off x="4708246" y="5755234"/>
            <a:ext cx="226131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expect(res.body.id).toBeDefined();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8178394" y="2229307"/>
            <a:ext cx="3562502" cy="4076395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8178394" y="2229307"/>
            <a:ext cx="3562502" cy="384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40" name="Shape 35"/>
          <p:cNvSpPr/>
          <p:nvPr/>
        </p:nvSpPr>
        <p:spPr>
          <a:xfrm>
            <a:off x="8483803" y="2572207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CEBEB"/>
          </a:solidFill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rcRect l="-80" r="-80" t="0" b="0"/>
          <a:stretch/>
        </p:blipFill>
        <p:spPr>
          <a:xfrm>
            <a:off x="8626450" y="2743200"/>
            <a:ext cx="286207" cy="22860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8483803" y="3333902"/>
            <a:ext cx="19915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&amp; Benchmarking</a:t>
            </a:r>
            <a:endParaRPr lang="en-US" sz="1500" dirty="0"/>
          </a:p>
        </p:txBody>
      </p:sp>
      <p:sp>
        <p:nvSpPr>
          <p:cNvPr id="43" name="Text 37"/>
          <p:cNvSpPr txBox="1"/>
          <p:nvPr/>
        </p:nvSpPr>
        <p:spPr>
          <a:xfrm>
            <a:off x="8483803" y="3771900"/>
            <a:ext cx="3038551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analyzes response payloads to suggest relevant assertions automatically. Integrated performance benchmarking tracks latency trends over time.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8483803" y="5219395"/>
            <a:ext cx="2952598" cy="780898"/>
          </a:xfrm>
          <a:prstGeom prst="roundRect">
            <a:avLst>
              <a:gd name="adj" fmla="val 571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45652" y="5410505"/>
            <a:ext cx="133502" cy="133502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8855050" y="5381244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Latency Tracking</a:t>
            </a:r>
            <a:endParaRPr lang="en-US" sz="1000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45652" y="5676595"/>
            <a:ext cx="133502" cy="133502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855050" y="5648249"/>
            <a:ext cx="14529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Auto-Generated Tests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457200" y="6687007"/>
            <a:ext cx="11277295" cy="1009498"/>
          </a:xfrm>
          <a:prstGeom prst="roundRect">
            <a:avLst>
              <a:gd name="adj" fmla="val 68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50" name="Text 42"/>
          <p:cNvSpPr txBox="1"/>
          <p:nvPr/>
        </p:nvSpPr>
        <p:spPr>
          <a:xfrm>
            <a:off x="694944" y="6943954"/>
            <a:ext cx="114848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B00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Advantages</a:t>
            </a:r>
            <a:endParaRPr lang="en-US" sz="1300" dirty="0"/>
          </a:p>
        </p:txBody>
      </p:sp>
      <p:sp>
        <p:nvSpPr>
          <p:cNvPr id="51" name="Shape 43"/>
          <p:cNvSpPr/>
          <p:nvPr/>
        </p:nvSpPr>
        <p:spPr>
          <a:xfrm>
            <a:off x="2027225" y="7039051"/>
            <a:ext cx="9144" cy="30449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rcRect l="-33" r="-33" t="0" b="0"/>
          <a:stretch/>
        </p:blipFill>
        <p:spPr>
          <a:xfrm>
            <a:off x="2264054" y="7114946"/>
            <a:ext cx="171907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2549347" y="7019849"/>
            <a:ext cx="10049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 Coverage</a:t>
            </a:r>
            <a:endParaRPr lang="en-US" sz="1000" dirty="0"/>
          </a:p>
        </p:txBody>
      </p:sp>
      <p:sp>
        <p:nvSpPr>
          <p:cNvPr id="54" name="Text 45"/>
          <p:cNvSpPr txBox="1"/>
          <p:nvPr/>
        </p:nvSpPr>
        <p:spPr>
          <a:xfrm>
            <a:off x="2549347" y="7200900"/>
            <a:ext cx="1762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 UI and API in one platform</a:t>
            </a:r>
            <a:endParaRPr lang="en-US" sz="900" dirty="0"/>
          </a:p>
        </p:txBody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493715" y="7114946"/>
            <a:ext cx="152705" cy="152705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5760720" y="7019849"/>
            <a:ext cx="11384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Contract Safety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5760720" y="7200900"/>
            <a:ext cx="17812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Prevent breaking changes early</a:t>
            </a:r>
            <a:endParaRPr lang="en-US" sz="900" dirty="0"/>
          </a:p>
        </p:txBody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724290" y="7114946"/>
            <a:ext cx="152705" cy="152705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8990381" y="7019849"/>
            <a:ext cx="1491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History &amp; Collections</a:t>
            </a:r>
            <a:endParaRPr lang="en-US" sz="1000" dirty="0"/>
          </a:p>
        </p:txBody>
      </p:sp>
      <p:sp>
        <p:nvSpPr>
          <p:cNvPr id="60" name="Text 49"/>
          <p:cNvSpPr txBox="1"/>
          <p:nvPr/>
        </p:nvSpPr>
        <p:spPr>
          <a:xfrm>
            <a:off x="8990381" y="7200900"/>
            <a:ext cx="1666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Organize and replay requests</a:t>
            </a:r>
            <a:endParaRPr lang="en-US" sz="900" dirty="0"/>
          </a:p>
        </p:txBody>
      </p:sp>
      <p:sp>
        <p:nvSpPr>
          <p:cNvPr id="61" name="Text 50"/>
          <p:cNvSpPr txBox="1"/>
          <p:nvPr/>
        </p:nvSpPr>
        <p:spPr>
          <a:xfrm>
            <a:off x="8908999" y="6543446"/>
            <a:ext cx="2915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Confidential &amp; Proprietary | HSBC Group Technology</a:t>
            </a:r>
            <a:endParaRPr lang="en-US" sz="900" dirty="0"/>
          </a:p>
        </p:txBody>
      </p:sp>
      <p:sp>
        <p:nvSpPr>
          <p:cNvPr id="62" name="Shape 51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DB001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9235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3" b="-83"/>
          <a:stretch/>
        </p:blipFill>
        <p:spPr>
          <a:xfrm>
            <a:off x="457200" y="314554"/>
            <a:ext cx="1190549" cy="2862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29054" y="304495"/>
            <a:ext cx="9144" cy="30449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190902" y="295351"/>
            <a:ext cx="34674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Reporting &amp; Analytics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851746" y="362102"/>
            <a:ext cx="19860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INSIGHTS &amp; INTELLIGENCE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923544"/>
            <a:ext cx="12191695" cy="593445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228954"/>
            <a:ext cx="2648102" cy="108630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7395" y="1380744"/>
            <a:ext cx="95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RATE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90749" y="1390802"/>
            <a:ext cx="152705" cy="1527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47395" y="1591056"/>
            <a:ext cx="104333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98.5%</a:t>
            </a:r>
            <a:endParaRPr lang="en-US" sz="2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-133" r="-133" t="0" b="0"/>
          <a:stretch/>
        </p:blipFill>
        <p:spPr>
          <a:xfrm>
            <a:off x="1552651" y="1795882"/>
            <a:ext cx="85954" cy="1143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38605" y="1772107"/>
            <a:ext cx="3529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1.2%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647395" y="1990649"/>
            <a:ext cx="762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Last 30 Days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3333902" y="1228954"/>
            <a:ext cx="2648102" cy="108630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3524098" y="1380744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TOTAL TESTS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667451" y="1390802"/>
            <a:ext cx="152705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524098" y="1591056"/>
            <a:ext cx="111922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12,450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4498848" y="1772107"/>
            <a:ext cx="991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Total Executions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3524098" y="1990649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Across all environments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6210605" y="1228954"/>
            <a:ext cx="2648102" cy="108630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6400800" y="1380744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AVG DURATION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8563356" y="1390802"/>
            <a:ext cx="133502" cy="15270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400800" y="1591056"/>
            <a:ext cx="1205179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4m 12s</a:t>
            </a:r>
            <a:endParaRPr lang="en-US" sz="22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rcRect l="-133" r="-133" t="0" b="0"/>
          <a:stretch/>
        </p:blipFill>
        <p:spPr>
          <a:xfrm>
            <a:off x="7463333" y="1795882"/>
            <a:ext cx="85954" cy="1143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549286" y="1772107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15s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6400800" y="1990649"/>
            <a:ext cx="790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 test suite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9087307" y="1228954"/>
            <a:ext cx="2648102" cy="108630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2" name="Text 24"/>
          <p:cNvSpPr txBox="1"/>
          <p:nvPr/>
        </p:nvSpPr>
        <p:spPr>
          <a:xfrm>
            <a:off x="9277502" y="1380744"/>
            <a:ext cx="10771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ACTIVE DEFECTS</a:t>
            </a:r>
            <a:endParaRPr lang="en-US" sz="9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1420856" y="1390802"/>
            <a:ext cx="152705" cy="15270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277502" y="1591056"/>
            <a:ext cx="54772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</a:t>
            </a:r>
            <a:endParaRPr lang="en-US" sz="2200" dirty="0"/>
          </a:p>
        </p:txBody>
      </p:sp>
      <p:sp>
        <p:nvSpPr>
          <p:cNvPr id="35" name="Text 26"/>
          <p:cNvSpPr txBox="1"/>
          <p:nvPr/>
        </p:nvSpPr>
        <p:spPr>
          <a:xfrm>
            <a:off x="9680753" y="1772107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Critical: 2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277502" y="1990649"/>
            <a:ext cx="1420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Identified by automation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457200" y="2542946"/>
            <a:ext cx="7448702" cy="4781398"/>
          </a:xfrm>
          <a:prstGeom prst="roundRect">
            <a:avLst>
              <a:gd name="adj" fmla="val 3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38" name="Text 29"/>
          <p:cNvSpPr txBox="1"/>
          <p:nvPr/>
        </p:nvSpPr>
        <p:spPr>
          <a:xfrm>
            <a:off x="657454" y="2762402"/>
            <a:ext cx="15864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Execution Trends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6618427" y="2752344"/>
            <a:ext cx="437998" cy="247802"/>
          </a:xfrm>
          <a:prstGeom prst="roundRect">
            <a:avLst>
              <a:gd name="adj" fmla="val 56770"/>
            </a:avLst>
          </a:prstGeom>
          <a:solidFill>
            <a:srgbClr val="F3F4F6"/>
          </a:solidFill>
          <a:ln/>
        </p:spPr>
      </p:sp>
      <p:sp>
        <p:nvSpPr>
          <p:cNvPr id="40" name="Text 31"/>
          <p:cNvSpPr txBox="1"/>
          <p:nvPr/>
        </p:nvSpPr>
        <p:spPr>
          <a:xfrm>
            <a:off x="6695237" y="2781605"/>
            <a:ext cx="3721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Daily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7125005" y="2752344"/>
            <a:ext cx="580644" cy="247802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7210958" y="2790749"/>
            <a:ext cx="495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Weekly</a:t>
            </a:r>
            <a:endParaRPr lang="en-US" sz="900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rcRect l="-69" r="-69" t="0" b="0"/>
          <a:stretch/>
        </p:blipFill>
        <p:spPr>
          <a:xfrm>
            <a:off x="657454" y="3161995"/>
            <a:ext cx="7048195" cy="3962095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8128102" y="2542946"/>
            <a:ext cx="3610051" cy="4781398"/>
          </a:xfrm>
          <a:prstGeom prst="roundRect">
            <a:avLst>
              <a:gd name="adj" fmla="val 53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45" name="Text 35"/>
          <p:cNvSpPr txBox="1"/>
          <p:nvPr/>
        </p:nvSpPr>
        <p:spPr>
          <a:xfrm>
            <a:off x="8328355" y="2762402"/>
            <a:ext cx="20528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Language Distribution</a:t>
            </a:r>
            <a:endParaRPr lang="en-US" sz="130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rcRect l="-143" r="-143" t="0" b="0"/>
          <a:stretch/>
        </p:blipFill>
        <p:spPr>
          <a:xfrm>
            <a:off x="8328355" y="3161995"/>
            <a:ext cx="3209544" cy="3429000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8328355" y="67821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DC2626"/>
          </a:solidFill>
          <a:ln/>
        </p:spPr>
      </p:sp>
      <p:sp>
        <p:nvSpPr>
          <p:cNvPr id="48" name="Text 37"/>
          <p:cNvSpPr txBox="1"/>
          <p:nvPr/>
        </p:nvSpPr>
        <p:spPr>
          <a:xfrm>
            <a:off x="8480146" y="6743700"/>
            <a:ext cx="9720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TypeScript (45%)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9969703" y="67821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F2937"/>
          </a:solidFill>
          <a:ln/>
        </p:spPr>
      </p:sp>
      <p:sp>
        <p:nvSpPr>
          <p:cNvPr id="50" name="Text 39"/>
          <p:cNvSpPr txBox="1"/>
          <p:nvPr/>
        </p:nvSpPr>
        <p:spPr>
          <a:xfrm>
            <a:off x="10121494" y="6743700"/>
            <a:ext cx="6291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Java (30%)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8328355" y="70107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6B7280"/>
          </a:solidFill>
          <a:ln/>
        </p:spPr>
      </p:sp>
      <p:sp>
        <p:nvSpPr>
          <p:cNvPr id="52" name="Text 41"/>
          <p:cNvSpPr txBox="1"/>
          <p:nvPr/>
        </p:nvSpPr>
        <p:spPr>
          <a:xfrm>
            <a:off x="8480146" y="6972300"/>
            <a:ext cx="7909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(15%)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9969703" y="70107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D1D5DB"/>
          </a:solidFill>
          <a:ln/>
        </p:spPr>
      </p:sp>
      <p:sp>
        <p:nvSpPr>
          <p:cNvPr id="54" name="Text 43"/>
          <p:cNvSpPr txBox="1"/>
          <p:nvPr/>
        </p:nvSpPr>
        <p:spPr>
          <a:xfrm>
            <a:off x="10121494" y="6972300"/>
            <a:ext cx="562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C# (10%)</a:t>
            </a:r>
            <a:endParaRPr lang="en-US" sz="900" dirty="0"/>
          </a:p>
        </p:txBody>
      </p:sp>
      <p:sp>
        <p:nvSpPr>
          <p:cNvPr id="55" name="Shape 44"/>
          <p:cNvSpPr/>
          <p:nvPr/>
        </p:nvSpPr>
        <p:spPr>
          <a:xfrm>
            <a:off x="457200" y="7552944"/>
            <a:ext cx="11277295" cy="895198"/>
          </a:xfrm>
          <a:prstGeom prst="roundRect">
            <a:avLst>
              <a:gd name="adj" fmla="val 86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56" name="Shape 45"/>
          <p:cNvSpPr/>
          <p:nvPr/>
        </p:nvSpPr>
        <p:spPr>
          <a:xfrm>
            <a:off x="657454" y="7753198"/>
            <a:ext cx="267005" cy="381305"/>
          </a:xfrm>
          <a:prstGeom prst="roundRect">
            <a:avLst>
              <a:gd name="adj" fmla="val 48924"/>
            </a:avLst>
          </a:prstGeom>
          <a:solidFill>
            <a:srgbClr val="FEF2F2"/>
          </a:solidFill>
          <a:ln/>
        </p:spPr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00" b="-100"/>
          <a:stretch/>
        </p:blipFill>
        <p:spPr>
          <a:xfrm>
            <a:off x="733349" y="7867498"/>
            <a:ext cx="114300" cy="152705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1037844" y="7772400"/>
            <a:ext cx="21579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Allure Test Reports Integration</a:t>
            </a:r>
            <a:endParaRPr lang="en-US" sz="1000" dirty="0"/>
          </a:p>
        </p:txBody>
      </p:sp>
      <p:sp>
        <p:nvSpPr>
          <p:cNvPr id="59" name="Text 47"/>
          <p:cNvSpPr txBox="1"/>
          <p:nvPr/>
        </p:nvSpPr>
        <p:spPr>
          <a:xfrm>
            <a:off x="1037844" y="7953451"/>
            <a:ext cx="3314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Rich visualizations with timeline view, behaviors, and graphs</a:t>
            </a:r>
            <a:endParaRPr lang="en-US" sz="900" dirty="0"/>
          </a:p>
        </p:txBody>
      </p:sp>
      <p:sp>
        <p:nvSpPr>
          <p:cNvPr id="60" name="Shape 48"/>
          <p:cNvSpPr/>
          <p:nvPr/>
        </p:nvSpPr>
        <p:spPr>
          <a:xfrm>
            <a:off x="6337706" y="7819949"/>
            <a:ext cx="1104595" cy="247802"/>
          </a:xfrm>
          <a:prstGeom prst="roundRect">
            <a:avLst>
              <a:gd name="adj" fmla="val 369004"/>
            </a:avLst>
          </a:prstGeom>
          <a:solidFill>
            <a:srgbClr val="FEF2F2"/>
          </a:solidFill>
          <a:ln/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452006" y="7886700"/>
            <a:ext cx="114300" cy="114300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6642202" y="7858354"/>
            <a:ext cx="771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Screenshots</a:t>
            </a:r>
            <a:endParaRPr lang="en-US" sz="900" dirty="0"/>
          </a:p>
        </p:txBody>
      </p:sp>
      <p:sp>
        <p:nvSpPr>
          <p:cNvPr id="63" name="Shape 50"/>
          <p:cNvSpPr/>
          <p:nvPr/>
        </p:nvSpPr>
        <p:spPr>
          <a:xfrm>
            <a:off x="7585862" y="7819949"/>
            <a:ext cx="1162202" cy="247802"/>
          </a:xfrm>
          <a:prstGeom prst="roundRect">
            <a:avLst>
              <a:gd name="adj" fmla="val 369004"/>
            </a:avLst>
          </a:prstGeom>
          <a:solidFill>
            <a:srgbClr val="FEF2F2"/>
          </a:solidFill>
          <a:ln/>
        </p:spPr>
      </p:sp>
      <p:pic>
        <p:nvPicPr>
          <p:cNvPr id="64" name="Image 11" descr="preencoded.png">    </p:cNvPr>
          <p:cNvPicPr>
            <a:picLocks noChangeAspect="1"/>
          </p:cNvPicPr>
          <p:nvPr/>
        </p:nvPicPr>
        <p:blipFill>
          <a:blip r:embed="rId12"/>
          <a:srcRect l="-1911" r="-1911" t="0" b="0"/>
          <a:stretch/>
        </p:blipFill>
        <p:spPr>
          <a:xfrm>
            <a:off x="7700162" y="7886700"/>
            <a:ext cx="133502" cy="114300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7909560" y="7858354"/>
            <a:ext cx="8101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Video Replay</a:t>
            </a:r>
            <a:endParaRPr lang="en-US" sz="900" dirty="0"/>
          </a:p>
        </p:txBody>
      </p:sp>
      <p:sp>
        <p:nvSpPr>
          <p:cNvPr id="66" name="Shape 52"/>
          <p:cNvSpPr/>
          <p:nvPr/>
        </p:nvSpPr>
        <p:spPr>
          <a:xfrm>
            <a:off x="8893454" y="7819949"/>
            <a:ext cx="1171346" cy="247802"/>
          </a:xfrm>
          <a:prstGeom prst="roundRect">
            <a:avLst>
              <a:gd name="adj" fmla="val 369004"/>
            </a:avLst>
          </a:prstGeom>
          <a:solidFill>
            <a:srgbClr val="FEF2F2"/>
          </a:solidFill>
          <a:ln/>
        </p:spPr>
      </p:sp>
      <p:pic>
        <p:nvPicPr>
          <p:cNvPr id="67" name="Image 12" descr="preencoded.png">    </p:cNvPr>
          <p:cNvPicPr>
            <a:picLocks noChangeAspect="1"/>
          </p:cNvPicPr>
          <p:nvPr/>
        </p:nvPicPr>
        <p:blipFill>
          <a:blip r:embed="rId13"/>
          <a:srcRect l="-1911" r="-1911" t="0" b="0"/>
          <a:stretch/>
        </p:blipFill>
        <p:spPr>
          <a:xfrm>
            <a:off x="9007754" y="7886700"/>
            <a:ext cx="133502" cy="114300"/>
          </a:xfrm>
          <a:prstGeom prst="rect">
            <a:avLst/>
          </a:prstGeom>
        </p:spPr>
      </p:pic>
      <p:sp>
        <p:nvSpPr>
          <p:cNvPr id="68" name="Text 53"/>
          <p:cNvSpPr txBox="1"/>
          <p:nvPr/>
        </p:nvSpPr>
        <p:spPr>
          <a:xfrm>
            <a:off x="9217152" y="7858354"/>
            <a:ext cx="8193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Console Logs</a:t>
            </a:r>
            <a:endParaRPr lang="en-US" sz="900" dirty="0"/>
          </a:p>
        </p:txBody>
      </p:sp>
      <p:sp>
        <p:nvSpPr>
          <p:cNvPr id="69" name="Shape 54"/>
          <p:cNvSpPr/>
          <p:nvPr/>
        </p:nvSpPr>
        <p:spPr>
          <a:xfrm>
            <a:off x="10217506" y="7819949"/>
            <a:ext cx="1324051" cy="247802"/>
          </a:xfrm>
          <a:prstGeom prst="roundRect">
            <a:avLst>
              <a:gd name="adj" fmla="val 369004"/>
            </a:avLst>
          </a:prstGeom>
          <a:solidFill>
            <a:srgbClr val="FEF2F2"/>
          </a:solidFill>
          <a:ln/>
        </p:spPr>
      </p:sp>
      <p:pic>
        <p:nvPicPr>
          <p:cNvPr id="70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80" b="-80"/>
          <a:stretch/>
        </p:blipFill>
        <p:spPr>
          <a:xfrm>
            <a:off x="10331806" y="7886700"/>
            <a:ext cx="142646" cy="114300"/>
          </a:xfrm>
          <a:prstGeom prst="rect">
            <a:avLst/>
          </a:prstGeom>
        </p:spPr>
      </p:pic>
      <p:sp>
        <p:nvSpPr>
          <p:cNvPr id="71" name="Text 55"/>
          <p:cNvSpPr txBox="1"/>
          <p:nvPr/>
        </p:nvSpPr>
        <p:spPr>
          <a:xfrm>
            <a:off x="10550347" y="7858354"/>
            <a:ext cx="962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Network Traces</a:t>
            </a:r>
            <a:endParaRPr lang="en-US" sz="900" dirty="0"/>
          </a:p>
        </p:txBody>
      </p:sp>
      <p:sp>
        <p:nvSpPr>
          <p:cNvPr id="72" name="Text 56"/>
          <p:cNvSpPr txBox="1"/>
          <p:nvPr/>
        </p:nvSpPr>
        <p:spPr>
          <a:xfrm>
            <a:off x="8908999" y="6543446"/>
            <a:ext cx="2915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Confidential &amp; Proprietary | HSBC Group Technology</a:t>
            </a:r>
            <a:endParaRPr lang="en-US" sz="900" dirty="0"/>
          </a:p>
        </p:txBody>
      </p:sp>
      <p:sp>
        <p:nvSpPr>
          <p:cNvPr id="73" name="Shape 57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DB001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9235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3" b="-83"/>
          <a:stretch/>
        </p:blipFill>
        <p:spPr>
          <a:xfrm>
            <a:off x="457200" y="314554"/>
            <a:ext cx="1190549" cy="2862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29054" y="304495"/>
            <a:ext cx="9144" cy="30449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190902" y="295351"/>
            <a:ext cx="24387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 Execution Engine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396374" y="362102"/>
            <a:ext cx="24432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INFRASTRUCTURE &amp; SCALABILITY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923544"/>
            <a:ext cx="12191695" cy="732434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1324051"/>
            <a:ext cx="84015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high-performance execution grid built on Playwright, capable of running thousands of tests in parallel across diverse environments with real-time observability.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229307"/>
            <a:ext cx="3562502" cy="4248302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229307"/>
            <a:ext cx="3562502" cy="384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14" name="Shape 11"/>
          <p:cNvSpPr/>
          <p:nvPr/>
        </p:nvSpPr>
        <p:spPr>
          <a:xfrm>
            <a:off x="761695" y="2572207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CEBE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3602" y="274320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61695" y="3333902"/>
            <a:ext cx="23628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Playwright Core Engine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61695" y="3771900"/>
            <a:ext cx="2724912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Leverages the modern Playwright architecture for reliable, flaky-free execution. Supports environment-specific configurations to seamlessly switch between Dev, Staging, and Production.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61695" y="5467198"/>
            <a:ext cx="2952598" cy="705002"/>
          </a:xfrm>
          <a:prstGeom prst="roundRect">
            <a:avLst>
              <a:gd name="adj" fmla="val 701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3544" y="5655564"/>
            <a:ext cx="133502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33856" y="5629046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Auto-wait Mechanism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3544" y="5845759"/>
            <a:ext cx="133502" cy="1335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33856" y="5820156"/>
            <a:ext cx="13862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Configurable Retries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317797" y="2229307"/>
            <a:ext cx="3562502" cy="4248302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317797" y="2229307"/>
            <a:ext cx="3562502" cy="384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25" name="Shape 19"/>
          <p:cNvSpPr/>
          <p:nvPr/>
        </p:nvSpPr>
        <p:spPr>
          <a:xfrm>
            <a:off x="4623206" y="2572207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CEBE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4765853" y="2743200"/>
            <a:ext cx="286207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23206" y="3333902"/>
            <a:ext cx="24387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Parallel &amp; Multi-Browser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623206" y="3771900"/>
            <a:ext cx="2781605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Maximize throughput with intelligent test sharding and parallel execution across all modern browser engines. Ensure consistent behavior for all customer touchpoints.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623206" y="5848502"/>
            <a:ext cx="875995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708246" y="5928970"/>
            <a:ext cx="114300" cy="1143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860950" y="5905195"/>
            <a:ext cx="638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Chromium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5629046" y="5848502"/>
            <a:ext cx="809244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714086" y="5928970"/>
            <a:ext cx="114300" cy="11430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5866790" y="5905195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Firefox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6566306" y="5848502"/>
            <a:ext cx="743407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652260" y="5928970"/>
            <a:ext cx="114300" cy="11430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804050" y="5905195"/>
            <a:ext cx="5056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WebKit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8178394" y="2229307"/>
            <a:ext cx="3562502" cy="4248302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8178394" y="2229307"/>
            <a:ext cx="3562502" cy="384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40" name="Shape 30"/>
          <p:cNvSpPr/>
          <p:nvPr/>
        </p:nvSpPr>
        <p:spPr>
          <a:xfrm>
            <a:off x="8483803" y="2572207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CEBEB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5" b="-45"/>
          <a:stretch/>
        </p:blipFill>
        <p:spPr>
          <a:xfrm>
            <a:off x="8641080" y="2743200"/>
            <a:ext cx="256946" cy="228600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8483803" y="3333902"/>
            <a:ext cx="24003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Observability</a:t>
            </a:r>
            <a:endParaRPr lang="en-US" sz="1500" dirty="0"/>
          </a:p>
        </p:txBody>
      </p:sp>
      <p:sp>
        <p:nvSpPr>
          <p:cNvPr id="43" name="Text 32"/>
          <p:cNvSpPr txBox="1"/>
          <p:nvPr/>
        </p:nvSpPr>
        <p:spPr>
          <a:xfrm>
            <a:off x="8483803" y="3771900"/>
            <a:ext cx="2934310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Watch tests execute live via secure WebSocket connections. Access instant console logs, network traces, and video recordings for rapid debugging of failures.</a:t>
            </a:r>
            <a:endParaRPr lang="en-US" sz="1200" dirty="0"/>
          </a:p>
        </p:txBody>
      </p:sp>
      <p:sp>
        <p:nvSpPr>
          <p:cNvPr id="44" name="Shape 33"/>
          <p:cNvSpPr/>
          <p:nvPr/>
        </p:nvSpPr>
        <p:spPr>
          <a:xfrm>
            <a:off x="8483803" y="5467198"/>
            <a:ext cx="2952598" cy="705002"/>
          </a:xfrm>
          <a:prstGeom prst="roundRect">
            <a:avLst>
              <a:gd name="adj" fmla="val 701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100" b="-1100"/>
          <a:stretch/>
        </p:blipFill>
        <p:spPr>
          <a:xfrm>
            <a:off x="8645652" y="5655564"/>
            <a:ext cx="114300" cy="133502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8835847" y="5629046"/>
            <a:ext cx="11768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Trace Viewer</a:t>
            </a:r>
            <a:endParaRPr lang="en-US" sz="1000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rcRect l="-837" r="-837" t="0" b="0"/>
          <a:stretch/>
        </p:blipFill>
        <p:spPr>
          <a:xfrm>
            <a:off x="8645652" y="5845759"/>
            <a:ext cx="152705" cy="133502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8874252" y="5820156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Video Replay</a:t>
            </a:r>
            <a:endParaRPr lang="en-US" sz="1000" dirty="0"/>
          </a:p>
        </p:txBody>
      </p:sp>
      <p:sp>
        <p:nvSpPr>
          <p:cNvPr id="49" name="Shape 36"/>
          <p:cNvSpPr/>
          <p:nvPr/>
        </p:nvSpPr>
        <p:spPr>
          <a:xfrm>
            <a:off x="457200" y="6858000"/>
            <a:ext cx="11277295" cy="1009498"/>
          </a:xfrm>
          <a:prstGeom prst="roundRect">
            <a:avLst>
              <a:gd name="adj" fmla="val 68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50" name="Text 37"/>
          <p:cNvSpPr txBox="1"/>
          <p:nvPr/>
        </p:nvSpPr>
        <p:spPr>
          <a:xfrm>
            <a:off x="694944" y="7114946"/>
            <a:ext cx="100492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B00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Outcomes</a:t>
            </a:r>
            <a:endParaRPr lang="en-US" sz="1300" dirty="0"/>
          </a:p>
        </p:txBody>
      </p:sp>
      <p:sp>
        <p:nvSpPr>
          <p:cNvPr id="51" name="Shape 38"/>
          <p:cNvSpPr/>
          <p:nvPr/>
        </p:nvSpPr>
        <p:spPr>
          <a:xfrm>
            <a:off x="1923898" y="7210044"/>
            <a:ext cx="9144" cy="30449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43" b="-43"/>
          <a:stretch/>
        </p:blipFill>
        <p:spPr>
          <a:xfrm>
            <a:off x="2159813" y="7286854"/>
            <a:ext cx="133502" cy="152705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2407615" y="7191756"/>
            <a:ext cx="17007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Reduced Feedback Time</a:t>
            </a:r>
            <a:endParaRPr lang="en-US" sz="1000" dirty="0"/>
          </a:p>
        </p:txBody>
      </p:sp>
      <p:sp>
        <p:nvSpPr>
          <p:cNvPr id="54" name="Text 40"/>
          <p:cNvSpPr txBox="1"/>
          <p:nvPr/>
        </p:nvSpPr>
        <p:spPr>
          <a:xfrm>
            <a:off x="2407615" y="7372807"/>
            <a:ext cx="21241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From hours to minutes via parallelism</a:t>
            </a:r>
            <a:endParaRPr lang="en-US" sz="900" dirty="0"/>
          </a:p>
        </p:txBody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5425135" y="7286854"/>
            <a:ext cx="152705" cy="152705"/>
          </a:xfrm>
          <a:prstGeom prst="rect">
            <a:avLst/>
          </a:prstGeom>
        </p:spPr>
      </p:pic>
      <p:sp>
        <p:nvSpPr>
          <p:cNvPr id="56" name="Text 41"/>
          <p:cNvSpPr txBox="1"/>
          <p:nvPr/>
        </p:nvSpPr>
        <p:spPr>
          <a:xfrm>
            <a:off x="5691226" y="7191756"/>
            <a:ext cx="10908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Total Coverage</a:t>
            </a:r>
            <a:endParaRPr lang="en-US" sz="1000" dirty="0"/>
          </a:p>
        </p:txBody>
      </p:sp>
      <p:sp>
        <p:nvSpPr>
          <p:cNvPr id="57" name="Text 42"/>
          <p:cNvSpPr txBox="1"/>
          <p:nvPr/>
        </p:nvSpPr>
        <p:spPr>
          <a:xfrm>
            <a:off x="5691226" y="7372807"/>
            <a:ext cx="1953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Validate on all supported browsers</a:t>
            </a:r>
            <a:endParaRPr lang="en-US" sz="900" dirty="0"/>
          </a:p>
        </p:txBody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689543" y="7286854"/>
            <a:ext cx="152705" cy="152705"/>
          </a:xfrm>
          <a:prstGeom prst="rect">
            <a:avLst/>
          </a:prstGeom>
        </p:spPr>
      </p:pic>
      <p:sp>
        <p:nvSpPr>
          <p:cNvPr id="59" name="Text 43"/>
          <p:cNvSpPr txBox="1"/>
          <p:nvPr/>
        </p:nvSpPr>
        <p:spPr>
          <a:xfrm>
            <a:off x="8955634" y="7191756"/>
            <a:ext cx="12335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Secure Execution</a:t>
            </a:r>
            <a:endParaRPr lang="en-US" sz="1000" dirty="0"/>
          </a:p>
        </p:txBody>
      </p:sp>
      <p:sp>
        <p:nvSpPr>
          <p:cNvPr id="60" name="Text 44"/>
          <p:cNvSpPr txBox="1"/>
          <p:nvPr/>
        </p:nvSpPr>
        <p:spPr>
          <a:xfrm>
            <a:off x="8955634" y="7372807"/>
            <a:ext cx="1924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Isolated containers for data safety</a:t>
            </a:r>
            <a:endParaRPr lang="en-US" sz="900" dirty="0"/>
          </a:p>
        </p:txBody>
      </p:sp>
      <p:sp>
        <p:nvSpPr>
          <p:cNvPr id="61" name="Text 45"/>
          <p:cNvSpPr txBox="1"/>
          <p:nvPr/>
        </p:nvSpPr>
        <p:spPr>
          <a:xfrm>
            <a:off x="8908999" y="6543446"/>
            <a:ext cx="2915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Confidential &amp; Proprietary | HSBC Group Technology</a:t>
            </a:r>
            <a:endParaRPr lang="en-US" sz="900" dirty="0"/>
          </a:p>
        </p:txBody>
      </p:sp>
      <p:sp>
        <p:nvSpPr>
          <p:cNvPr id="62" name="Shape 46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DB001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9235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3" b="-83"/>
          <a:stretch/>
        </p:blipFill>
        <p:spPr>
          <a:xfrm>
            <a:off x="457200" y="314554"/>
            <a:ext cx="1190549" cy="2862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29054" y="304495"/>
            <a:ext cx="9144" cy="30449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190902" y="295351"/>
            <a:ext cx="28392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Enterprise-Grade Security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036454" y="362102"/>
            <a:ext cx="1805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 PROTECTION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923544"/>
            <a:ext cx="12191695" cy="709574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1324051"/>
            <a:ext cx="81820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Built with banking standards in mind, our platform employs a multi-layered security approach ensuring data integrity, strict access control, and compliance with HSBC's security protocols.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229307"/>
            <a:ext cx="3562502" cy="4019702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229307"/>
            <a:ext cx="3562502" cy="384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14" name="Shape 11"/>
          <p:cNvSpPr/>
          <p:nvPr/>
        </p:nvSpPr>
        <p:spPr>
          <a:xfrm>
            <a:off x="761695" y="2572207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CEBE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-80" r="-80" t="0" b="0"/>
          <a:stretch/>
        </p:blipFill>
        <p:spPr>
          <a:xfrm>
            <a:off x="905256" y="2743200"/>
            <a:ext cx="286207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61695" y="3333902"/>
            <a:ext cx="17913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Identity &amp; Access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61695" y="3771900"/>
            <a:ext cx="2991002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Robust identity management using JWT-based authentication with separate access and refresh tokens. Granular Role-Based Access Control (RBAC) ensures least-privilege access.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61695" y="5238598"/>
            <a:ext cx="2952598" cy="705002"/>
          </a:xfrm>
          <a:prstGeom prst="roundRect">
            <a:avLst>
              <a:gd name="adj" fmla="val 701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3544" y="5426964"/>
            <a:ext cx="133502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33856" y="5400446"/>
            <a:ext cx="14337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JWT + Refresh Tokens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-837" r="-837" t="0" b="0"/>
          <a:stretch/>
        </p:blipFill>
        <p:spPr>
          <a:xfrm>
            <a:off x="923544" y="5617159"/>
            <a:ext cx="152705" cy="1335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52144" y="5591556"/>
            <a:ext cx="10341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Granular RBAC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317797" y="2229307"/>
            <a:ext cx="3562502" cy="4019702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317797" y="2229307"/>
            <a:ext cx="3562502" cy="384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25" name="Shape 19"/>
          <p:cNvSpPr/>
          <p:nvPr/>
        </p:nvSpPr>
        <p:spPr>
          <a:xfrm>
            <a:off x="4623206" y="2572207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CEBE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-57" r="-57" t="0" b="0"/>
          <a:stretch/>
        </p:blipFill>
        <p:spPr>
          <a:xfrm>
            <a:off x="4808830" y="2743200"/>
            <a:ext cx="200254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23206" y="3333902"/>
            <a:ext cx="16486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Protection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623206" y="3771900"/>
            <a:ext cx="2857500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Industry-standard cryptography for all sensitive data. Passwords are secured using bcrypt hashing. Application security headers (Helmet) protect against common web vulnerabilities.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623206" y="5238598"/>
            <a:ext cx="2952598" cy="705002"/>
          </a:xfrm>
          <a:prstGeom prst="roundRect">
            <a:avLst>
              <a:gd name="adj" fmla="val 701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4785055" y="5426964"/>
            <a:ext cx="114300" cy="1335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975250" y="5400446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Bcrypt Hashing</a:t>
            </a:r>
            <a:endParaRPr lang="en-US" sz="10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785055" y="5617159"/>
            <a:ext cx="133502" cy="13350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4994453" y="5591556"/>
            <a:ext cx="1653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Helmet Security Headers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8178394" y="2229307"/>
            <a:ext cx="3562502" cy="4019702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8178394" y="2229307"/>
            <a:ext cx="3562502" cy="384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6" name="Shape 27"/>
          <p:cNvSpPr/>
          <p:nvPr/>
        </p:nvSpPr>
        <p:spPr>
          <a:xfrm>
            <a:off x="8483803" y="2572207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CEBEB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654796" y="2743200"/>
            <a:ext cx="228600" cy="22860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483803" y="3333902"/>
            <a:ext cx="18105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Network Defense</a:t>
            </a:r>
            <a:endParaRPr lang="en-US" sz="1500" dirty="0"/>
          </a:p>
        </p:txBody>
      </p:sp>
      <p:sp>
        <p:nvSpPr>
          <p:cNvPr id="39" name="Text 29"/>
          <p:cNvSpPr txBox="1"/>
          <p:nvPr/>
        </p:nvSpPr>
        <p:spPr>
          <a:xfrm>
            <a:off x="8483803" y="3771900"/>
            <a:ext cx="3001061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Comprehensive API protection including strict CORS policies, intelligent rate limiting to prevent abuse, and rigorous input validation to block injection attacks.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8483803" y="5219395"/>
            <a:ext cx="448056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8568842" y="5277002"/>
            <a:ext cx="362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CORS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9062618" y="5219395"/>
            <a:ext cx="1067105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9148572" y="5277002"/>
            <a:ext cx="981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Limiting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8483803" y="5619902"/>
            <a:ext cx="1410005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8568842" y="5676595"/>
            <a:ext cx="13240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Sanitization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10022738" y="5619902"/>
            <a:ext cx="1133856" cy="267005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10108692" y="5676595"/>
            <a:ext cx="1047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XSS Protection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457200" y="6629400"/>
            <a:ext cx="11277295" cy="1009498"/>
          </a:xfrm>
          <a:prstGeom prst="roundRect">
            <a:avLst>
              <a:gd name="adj" fmla="val 68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9" name="Text 39"/>
          <p:cNvSpPr txBox="1"/>
          <p:nvPr/>
        </p:nvSpPr>
        <p:spPr>
          <a:xfrm>
            <a:off x="694944" y="6886346"/>
            <a:ext cx="131033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B00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Compliance &amp; Trust</a:t>
            </a:r>
            <a:endParaRPr lang="en-US" sz="1300" dirty="0"/>
          </a:p>
        </p:txBody>
      </p:sp>
      <p:sp>
        <p:nvSpPr>
          <p:cNvPr id="50" name="Shape 40"/>
          <p:cNvSpPr/>
          <p:nvPr/>
        </p:nvSpPr>
        <p:spPr>
          <a:xfrm>
            <a:off x="2233879" y="6981444"/>
            <a:ext cx="9144" cy="30449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469794" y="7058254"/>
            <a:ext cx="152705" cy="152705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2736799" y="6963156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 Ready</a:t>
            </a:r>
            <a:endParaRPr lang="en-US" sz="1000" dirty="0"/>
          </a:p>
        </p:txBody>
      </p:sp>
      <p:sp>
        <p:nvSpPr>
          <p:cNvPr id="53" name="Text 42"/>
          <p:cNvSpPr txBox="1"/>
          <p:nvPr/>
        </p:nvSpPr>
        <p:spPr>
          <a:xfrm>
            <a:off x="2736799" y="7144207"/>
            <a:ext cx="1610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Traceable logs for all actions</a:t>
            </a:r>
            <a:endParaRPr lang="en-US" sz="900" dirty="0"/>
          </a:p>
        </p:txBody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80" b="-180"/>
          <a:stretch/>
        </p:blipFill>
        <p:spPr>
          <a:xfrm>
            <a:off x="5630875" y="7058254"/>
            <a:ext cx="190195" cy="152705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5936285" y="6963156"/>
            <a:ext cx="7763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Zero Trust</a:t>
            </a:r>
            <a:endParaRPr lang="en-US" sz="1000" dirty="0"/>
          </a:p>
        </p:txBody>
      </p:sp>
      <p:sp>
        <p:nvSpPr>
          <p:cNvPr id="56" name="Text 44"/>
          <p:cNvSpPr txBox="1"/>
          <p:nvPr/>
        </p:nvSpPr>
        <p:spPr>
          <a:xfrm>
            <a:off x="5936285" y="7144207"/>
            <a:ext cx="1571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Identity-first security model</a:t>
            </a:r>
            <a:endParaRPr lang="en-US" sz="900" dirty="0"/>
          </a:p>
        </p:txBody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792870" y="7058254"/>
            <a:ext cx="152705" cy="152705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9058961" y="6963156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Attack Prevention</a:t>
            </a:r>
            <a:endParaRPr lang="en-US" sz="1000" dirty="0"/>
          </a:p>
        </p:txBody>
      </p:sp>
      <p:sp>
        <p:nvSpPr>
          <p:cNvPr id="59" name="Text 46"/>
          <p:cNvSpPr txBox="1"/>
          <p:nvPr/>
        </p:nvSpPr>
        <p:spPr>
          <a:xfrm>
            <a:off x="9058961" y="7144207"/>
            <a:ext cx="1410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Proactive input scanning</a:t>
            </a:r>
            <a:endParaRPr lang="en-US" sz="900" dirty="0"/>
          </a:p>
        </p:txBody>
      </p:sp>
      <p:sp>
        <p:nvSpPr>
          <p:cNvPr id="60" name="Text 47"/>
          <p:cNvSpPr txBox="1"/>
          <p:nvPr/>
        </p:nvSpPr>
        <p:spPr>
          <a:xfrm>
            <a:off x="8908999" y="6543446"/>
            <a:ext cx="2915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Confidential &amp; Proprietary | HSBC Group Technology</a:t>
            </a:r>
            <a:endParaRPr lang="en-US" sz="900" dirty="0"/>
          </a:p>
        </p:txBody>
      </p:sp>
      <p:sp>
        <p:nvSpPr>
          <p:cNvPr id="61" name="Shape 48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DB0011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9235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3" b="-83"/>
          <a:stretch/>
        </p:blipFill>
        <p:spPr>
          <a:xfrm>
            <a:off x="457200" y="314554"/>
            <a:ext cx="1190549" cy="2862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29054" y="304495"/>
            <a:ext cx="9144" cy="30449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190902" y="295351"/>
            <a:ext cx="24103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Integration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546690" y="362102"/>
            <a:ext cx="12911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BROWSER TOOLS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923544"/>
            <a:ext cx="12191695" cy="740115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1324051"/>
            <a:ext cx="86584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Leverage the power of modern browser capabilities with a secure, performant Manifest V3 Chrome extension designed for seamless, zero-friction testing workflows.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2229307"/>
            <a:ext cx="3562502" cy="4324198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229307"/>
            <a:ext cx="3562502" cy="384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14" name="Shape 11"/>
          <p:cNvSpPr/>
          <p:nvPr/>
        </p:nvSpPr>
        <p:spPr>
          <a:xfrm>
            <a:off x="761695" y="2572207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CEBE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3602" y="274320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61695" y="3333902"/>
            <a:ext cx="1752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Manifest V3 Core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61695" y="3771900"/>
            <a:ext cx="2905963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Built on the latest Chrome extension standard using Service Workers for improved security and performance. Eliminates persistent background processes to reduce memory footprint.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61695" y="5467198"/>
            <a:ext cx="2952598" cy="780898"/>
          </a:xfrm>
          <a:prstGeom prst="roundRect">
            <a:avLst>
              <a:gd name="adj" fmla="val 571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3544" y="5658307"/>
            <a:ext cx="133502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33856" y="5629046"/>
            <a:ext cx="16815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Enhanced Security Model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923544" y="5924398"/>
            <a:ext cx="114300" cy="1335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14654" y="5896051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Event-Driven Workers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317797" y="2229307"/>
            <a:ext cx="3562502" cy="4324198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317797" y="2229307"/>
            <a:ext cx="3562502" cy="384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25" name="Shape 19"/>
          <p:cNvSpPr/>
          <p:nvPr/>
        </p:nvSpPr>
        <p:spPr>
          <a:xfrm>
            <a:off x="4623206" y="2572207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CEBE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794199" y="274320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23206" y="3333902"/>
            <a:ext cx="19531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Seamless Interface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623206" y="3771900"/>
            <a:ext cx="2924251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Features a dedicated Side Panel UI that keeps recorder controls accessible without obstructing the application under test. Content scripts inject securely to capture precise DOM interactions.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623206" y="5467198"/>
            <a:ext cx="2952598" cy="780898"/>
          </a:xfrm>
          <a:prstGeom prst="roundRect">
            <a:avLst>
              <a:gd name="adj" fmla="val 571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785055" y="5658307"/>
            <a:ext cx="133502" cy="1335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994453" y="5629046"/>
            <a:ext cx="9957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Side Panel API</a:t>
            </a:r>
            <a:endParaRPr lang="en-US" sz="10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-837" r="-837" t="0" b="0"/>
          <a:stretch/>
        </p:blipFill>
        <p:spPr>
          <a:xfrm>
            <a:off x="4785055" y="5924398"/>
            <a:ext cx="152705" cy="13350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013655" y="5896051"/>
            <a:ext cx="1491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Shadow DOM Support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8178394" y="2229307"/>
            <a:ext cx="3562502" cy="4324198"/>
          </a:xfrm>
          <a:prstGeom prst="roundRect">
            <a:avLst>
              <a:gd name="adj" fmla="val 5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8178394" y="2229307"/>
            <a:ext cx="3562502" cy="384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6" name="Shape 27"/>
          <p:cNvSpPr/>
          <p:nvPr/>
        </p:nvSpPr>
        <p:spPr>
          <a:xfrm>
            <a:off x="8483803" y="2572207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FCEBEB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5" b="-45"/>
          <a:stretch/>
        </p:blipFill>
        <p:spPr>
          <a:xfrm>
            <a:off x="8641080" y="2743200"/>
            <a:ext cx="256946" cy="22860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483803" y="3333902"/>
            <a:ext cx="12765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Power Tools</a:t>
            </a:r>
            <a:endParaRPr lang="en-US" sz="1500" dirty="0"/>
          </a:p>
        </p:txBody>
      </p:sp>
      <p:sp>
        <p:nvSpPr>
          <p:cNvPr id="39" name="Text 29"/>
          <p:cNvSpPr txBox="1"/>
          <p:nvPr/>
        </p:nvSpPr>
        <p:spPr>
          <a:xfrm>
            <a:off x="8483803" y="3771900"/>
            <a:ext cx="2839212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Boost developer productivity with configurable keyboard shortcuts for rapid recording control, context menu integration for quick assertions, and custom locator builders.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8483803" y="5467198"/>
            <a:ext cx="2952598" cy="780898"/>
          </a:xfrm>
          <a:prstGeom prst="roundRect">
            <a:avLst>
              <a:gd name="adj" fmla="val 5712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rcRect l="-837" r="-837" t="0" b="0"/>
          <a:stretch/>
        </p:blipFill>
        <p:spPr>
          <a:xfrm>
            <a:off x="8645652" y="5658307"/>
            <a:ext cx="152705" cy="133502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8874252" y="5629046"/>
            <a:ext cx="11292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 Hotkeys</a:t>
            </a:r>
            <a:endParaRPr lang="en-US" sz="100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rcRect l="-1507" r="-1507" t="0" b="0"/>
          <a:stretch/>
        </p:blipFill>
        <p:spPr>
          <a:xfrm>
            <a:off x="8645652" y="5924398"/>
            <a:ext cx="85954" cy="133502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8807501" y="5896051"/>
            <a:ext cx="10533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Context Menus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457200" y="6933895"/>
            <a:ext cx="11277295" cy="1009498"/>
          </a:xfrm>
          <a:prstGeom prst="roundRect">
            <a:avLst>
              <a:gd name="adj" fmla="val 68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6" name="Text 34"/>
          <p:cNvSpPr txBox="1"/>
          <p:nvPr/>
        </p:nvSpPr>
        <p:spPr>
          <a:xfrm>
            <a:off x="694944" y="7191756"/>
            <a:ext cx="114848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B00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Advantages</a:t>
            </a:r>
            <a:endParaRPr lang="en-US" sz="1300" dirty="0"/>
          </a:p>
        </p:txBody>
      </p:sp>
      <p:sp>
        <p:nvSpPr>
          <p:cNvPr id="47" name="Shape 35"/>
          <p:cNvSpPr/>
          <p:nvPr/>
        </p:nvSpPr>
        <p:spPr>
          <a:xfrm>
            <a:off x="2027225" y="7286854"/>
            <a:ext cx="9144" cy="30449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3" b="-43"/>
          <a:stretch/>
        </p:blipFill>
        <p:spPr>
          <a:xfrm>
            <a:off x="2264054" y="7362749"/>
            <a:ext cx="133502" cy="152705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2511857" y="7267651"/>
            <a:ext cx="15197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Enterprise Compliant</a:t>
            </a:r>
            <a:endParaRPr lang="en-US" sz="1000" dirty="0"/>
          </a:p>
        </p:txBody>
      </p:sp>
      <p:sp>
        <p:nvSpPr>
          <p:cNvPr id="50" name="Text 37"/>
          <p:cNvSpPr txBox="1"/>
          <p:nvPr/>
        </p:nvSpPr>
        <p:spPr>
          <a:xfrm>
            <a:off x="2511857" y="7448702"/>
            <a:ext cx="1485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Store Policy Ready</a:t>
            </a:r>
            <a:endParaRPr lang="en-US" sz="900" dirty="0"/>
          </a:p>
        </p:txBody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493715" y="7362749"/>
            <a:ext cx="152705" cy="152705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5760720" y="7267651"/>
            <a:ext cx="10341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Non-Intrusive</a:t>
            </a:r>
            <a:endParaRPr lang="en-US" sz="1000" dirty="0"/>
          </a:p>
        </p:txBody>
      </p:sp>
      <p:sp>
        <p:nvSpPr>
          <p:cNvPr id="53" name="Text 39"/>
          <p:cNvSpPr txBox="1"/>
          <p:nvPr/>
        </p:nvSpPr>
        <p:spPr>
          <a:xfrm>
            <a:off x="5760720" y="7448702"/>
            <a:ext cx="1733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Zero impact on test app layout</a:t>
            </a:r>
            <a:endParaRPr lang="en-US" sz="900" dirty="0"/>
          </a:p>
        </p:txBody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724290" y="7362749"/>
            <a:ext cx="152705" cy="152705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8990381" y="7267651"/>
            <a:ext cx="8723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Frictionless</a:t>
            </a:r>
            <a:endParaRPr lang="en-US" sz="1000" dirty="0"/>
          </a:p>
        </p:txBody>
      </p:sp>
      <p:sp>
        <p:nvSpPr>
          <p:cNvPr id="56" name="Text 41"/>
          <p:cNvSpPr txBox="1"/>
          <p:nvPr/>
        </p:nvSpPr>
        <p:spPr>
          <a:xfrm>
            <a:off x="8990381" y="7448702"/>
            <a:ext cx="17053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context switching required</a:t>
            </a:r>
            <a:endParaRPr lang="en-US" sz="900" dirty="0"/>
          </a:p>
        </p:txBody>
      </p:sp>
      <p:sp>
        <p:nvSpPr>
          <p:cNvPr id="57" name="Text 42"/>
          <p:cNvSpPr txBox="1"/>
          <p:nvPr/>
        </p:nvSpPr>
        <p:spPr>
          <a:xfrm>
            <a:off x="8908999" y="6543446"/>
            <a:ext cx="2915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Confidential &amp; Proprietary | HSBC Group Technology</a:t>
            </a:r>
            <a:endParaRPr lang="en-US" sz="900" dirty="0"/>
          </a:p>
        </p:txBody>
      </p:sp>
      <p:sp>
        <p:nvSpPr>
          <p:cNvPr id="58" name="Shape 43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DB0011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923544"/>
            <a:ext cx="12191695" cy="593445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08999" y="6543446"/>
            <a:ext cx="2915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Confidential &amp; Proprietary | HSBC Group Technology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1695" cy="9235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3" b="-83"/>
          <a:stretch/>
        </p:blipFill>
        <p:spPr>
          <a:xfrm>
            <a:off x="457200" y="314554"/>
            <a:ext cx="1190549" cy="28620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029054" y="304495"/>
            <a:ext cx="9144" cy="30449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90902" y="295351"/>
            <a:ext cx="35341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High-Level Platform Architecture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0615270" y="362102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9905" y="1228954"/>
            <a:ext cx="609905" cy="5324551"/>
          </a:xfrm>
          <a:prstGeom prst="roundRect">
            <a:avLst>
              <a:gd name="adj" fmla="val 18741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10582" y="2523744"/>
            <a:ext cx="142646" cy="190195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10582" y="6096305"/>
            <a:ext cx="142646" cy="19019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44000" y="1228954"/>
            <a:ext cx="9144" cy="5324551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2"/>
          <p:cNvSpPr/>
          <p:nvPr/>
        </p:nvSpPr>
        <p:spPr>
          <a:xfrm>
            <a:off x="9381744" y="2414930"/>
            <a:ext cx="2200046" cy="342900"/>
          </a:xfrm>
          <a:prstGeom prst="roundRect">
            <a:avLst>
              <a:gd name="adj" fmla="val 26666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544507" y="2529230"/>
            <a:ext cx="114300" cy="1143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381744" y="2872130"/>
            <a:ext cx="2200046" cy="342900"/>
          </a:xfrm>
          <a:prstGeom prst="roundRect">
            <a:avLst>
              <a:gd name="adj" fmla="val 26666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-1613" r="-1613" t="0" b="0"/>
          <a:stretch/>
        </p:blipFill>
        <p:spPr>
          <a:xfrm>
            <a:off x="9544507" y="2986430"/>
            <a:ext cx="114300" cy="1143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9381744" y="3329330"/>
            <a:ext cx="2200046" cy="342900"/>
          </a:xfrm>
          <a:prstGeom prst="roundRect">
            <a:avLst>
              <a:gd name="adj" fmla="val 26666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9544507" y="3443630"/>
            <a:ext cx="105156" cy="1143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381744" y="3786530"/>
            <a:ext cx="2200046" cy="342900"/>
          </a:xfrm>
          <a:prstGeom prst="roundRect">
            <a:avLst>
              <a:gd name="adj" fmla="val 26666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-1613" r="-1613" t="0" b="0"/>
          <a:stretch/>
        </p:blipFill>
        <p:spPr>
          <a:xfrm>
            <a:off x="9544507" y="3900830"/>
            <a:ext cx="114300" cy="11430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9381744" y="4433926"/>
            <a:ext cx="2200046" cy="1390802"/>
          </a:xfrm>
          <a:prstGeom prst="roundRect">
            <a:avLst>
              <a:gd name="adj" fmla="val 1801"/>
            </a:avLst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19302" y="1567282"/>
            <a:ext cx="190195" cy="190195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9381744" y="1947672"/>
            <a:ext cx="1886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ECOSYSTEM INTEGRATIONS</a:t>
            </a:r>
            <a:endParaRPr lang="en-US" sz="900" dirty="0"/>
          </a:p>
        </p:txBody>
      </p:sp>
      <p:sp>
        <p:nvSpPr>
          <p:cNvPr id="28" name="Text 18"/>
          <p:cNvSpPr txBox="1"/>
          <p:nvPr/>
        </p:nvSpPr>
        <p:spPr>
          <a:xfrm>
            <a:off x="9734702" y="2499970"/>
            <a:ext cx="943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CI/CD Pipelines</a:t>
            </a:r>
            <a:endParaRPr lang="en-US" sz="900" dirty="0"/>
          </a:p>
        </p:txBody>
      </p:sp>
      <p:sp>
        <p:nvSpPr>
          <p:cNvPr id="29" name="Text 19"/>
          <p:cNvSpPr txBox="1"/>
          <p:nvPr/>
        </p:nvSpPr>
        <p:spPr>
          <a:xfrm>
            <a:off x="9734702" y="2957170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Jira / ALM</a:t>
            </a:r>
            <a:endParaRPr lang="en-US" sz="900" dirty="0"/>
          </a:p>
        </p:txBody>
      </p:sp>
      <p:sp>
        <p:nvSpPr>
          <p:cNvPr id="30" name="Text 20"/>
          <p:cNvSpPr txBox="1"/>
          <p:nvPr/>
        </p:nvSpPr>
        <p:spPr>
          <a:xfrm>
            <a:off x="9724644" y="3414370"/>
            <a:ext cx="838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Slack / Teams</a:t>
            </a:r>
            <a:endParaRPr lang="en-US" sz="900" dirty="0"/>
          </a:p>
        </p:txBody>
      </p:sp>
      <p:sp>
        <p:nvSpPr>
          <p:cNvPr id="31" name="Text 21"/>
          <p:cNvSpPr txBox="1"/>
          <p:nvPr/>
        </p:nvSpPr>
        <p:spPr>
          <a:xfrm>
            <a:off x="9734702" y="3871570"/>
            <a:ext cx="95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GitHub / GitLab</a:t>
            </a:r>
            <a:endParaRPr lang="en-US" sz="9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506102" y="4595774"/>
            <a:ext cx="152705" cy="152705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9506102" y="4567428"/>
            <a:ext cx="1886407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services are containerized and deployed via Kubernetes with horizontal autoscaling.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828446" y="2651760"/>
            <a:ext cx="247802" cy="2981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ENTERPRISE SECURITY &amp; IDENTITY (SSO/JWT)</a:t>
            </a:r>
            <a:endParaRPr lang="en-US" sz="900" dirty="0"/>
          </a:p>
        </p:txBody>
      </p:sp>
      <p:sp>
        <p:nvSpPr>
          <p:cNvPr id="35" name="Text 24"/>
          <p:cNvSpPr txBox="1"/>
          <p:nvPr/>
        </p:nvSpPr>
        <p:spPr>
          <a:xfrm>
            <a:off x="990295" y="1360627"/>
            <a:ext cx="247802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EXPERIENCE</a:t>
            </a:r>
            <a:endParaRPr lang="en-US" sz="900" dirty="0"/>
          </a:p>
        </p:txBody>
      </p:sp>
      <p:sp>
        <p:nvSpPr>
          <p:cNvPr id="36" name="Shape 25"/>
          <p:cNvSpPr/>
          <p:nvPr/>
        </p:nvSpPr>
        <p:spPr>
          <a:xfrm>
            <a:off x="1447495" y="1228954"/>
            <a:ext cx="3657600" cy="1067105"/>
          </a:xfrm>
          <a:prstGeom prst="roundRect">
            <a:avLst>
              <a:gd name="adj" fmla="val 45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133649" y="1390802"/>
            <a:ext cx="286207" cy="286207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2585009" y="1762049"/>
            <a:ext cx="15051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Chrome Extension</a:t>
            </a:r>
            <a:endParaRPr lang="en-US" sz="1200" dirty="0"/>
          </a:p>
        </p:txBody>
      </p:sp>
      <p:sp>
        <p:nvSpPr>
          <p:cNvPr id="39" name="Text 27"/>
          <p:cNvSpPr txBox="1"/>
          <p:nvPr/>
        </p:nvSpPr>
        <p:spPr>
          <a:xfrm>
            <a:off x="2204618" y="1971446"/>
            <a:ext cx="22384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Manifest V3 • Recorder • Locator Builder</a:t>
            </a:r>
            <a:endParaRPr lang="en-US" sz="900" dirty="0"/>
          </a:p>
        </p:txBody>
      </p:sp>
      <p:sp>
        <p:nvSpPr>
          <p:cNvPr id="40" name="Shape 28"/>
          <p:cNvSpPr/>
          <p:nvPr/>
        </p:nvSpPr>
        <p:spPr>
          <a:xfrm>
            <a:off x="5257800" y="1228954"/>
            <a:ext cx="3657600" cy="1067105"/>
          </a:xfrm>
          <a:prstGeom prst="roundRect">
            <a:avLst>
              <a:gd name="adj" fmla="val 45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rcRect l="-266" r="-266" t="0" b="0"/>
          <a:stretch/>
        </p:blipFill>
        <p:spPr>
          <a:xfrm>
            <a:off x="6924751" y="1390802"/>
            <a:ext cx="323698" cy="286207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6670548" y="1762049"/>
            <a:ext cx="952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 Portal</a:t>
            </a:r>
            <a:endParaRPr lang="en-US" sz="1200" dirty="0"/>
          </a:p>
        </p:txBody>
      </p:sp>
      <p:sp>
        <p:nvSpPr>
          <p:cNvPr id="43" name="Text 30"/>
          <p:cNvSpPr txBox="1"/>
          <p:nvPr/>
        </p:nvSpPr>
        <p:spPr>
          <a:xfrm>
            <a:off x="6089904" y="1971446"/>
            <a:ext cx="2086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Dashboard • Management • Analytics</a:t>
            </a:r>
            <a:endParaRPr lang="en-US" sz="900" dirty="0"/>
          </a:p>
        </p:txBody>
      </p:sp>
      <p:sp>
        <p:nvSpPr>
          <p:cNvPr id="44" name="Shape 31"/>
          <p:cNvSpPr/>
          <p:nvPr/>
        </p:nvSpPr>
        <p:spPr>
          <a:xfrm>
            <a:off x="1447495" y="2943454"/>
            <a:ext cx="7467905" cy="2924251"/>
          </a:xfrm>
          <a:prstGeom prst="roundRect">
            <a:avLst>
              <a:gd name="adj" fmla="val 8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5" name="Text 32"/>
          <p:cNvSpPr txBox="1"/>
          <p:nvPr/>
        </p:nvSpPr>
        <p:spPr>
          <a:xfrm>
            <a:off x="1000354" y="3876142"/>
            <a:ext cx="247802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SERVICES LAYER</a:t>
            </a:r>
            <a:endParaRPr lang="en-US" sz="900" dirty="0"/>
          </a:p>
        </p:txBody>
      </p:sp>
      <p:sp>
        <p:nvSpPr>
          <p:cNvPr id="46" name="Shape 33"/>
          <p:cNvSpPr/>
          <p:nvPr/>
        </p:nvSpPr>
        <p:spPr>
          <a:xfrm>
            <a:off x="1686154" y="3562502"/>
            <a:ext cx="6991502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7" name="Text 34"/>
          <p:cNvSpPr txBox="1"/>
          <p:nvPr/>
        </p:nvSpPr>
        <p:spPr>
          <a:xfrm>
            <a:off x="1686154" y="3200400"/>
            <a:ext cx="25767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GATEWAY / LOAD BALANCER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7443216" y="3181198"/>
            <a:ext cx="418795" cy="228600"/>
          </a:xfrm>
          <a:prstGeom prst="roundRect">
            <a:avLst>
              <a:gd name="adj" fmla="val 66667"/>
            </a:avLst>
          </a:prstGeom>
          <a:solidFill>
            <a:srgbClr val="D1FAE5"/>
          </a:solidFill>
          <a:ln/>
        </p:spPr>
      </p:sp>
      <p:sp>
        <p:nvSpPr>
          <p:cNvPr id="49" name="Text 36"/>
          <p:cNvSpPr txBox="1"/>
          <p:nvPr/>
        </p:nvSpPr>
        <p:spPr>
          <a:xfrm>
            <a:off x="7519111" y="3209544"/>
            <a:ext cx="3529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4785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</a:t>
            </a:r>
            <a:endParaRPr lang="en-US" sz="900" dirty="0"/>
          </a:p>
        </p:txBody>
      </p:sp>
      <p:sp>
        <p:nvSpPr>
          <p:cNvPr id="50" name="Shape 37"/>
          <p:cNvSpPr/>
          <p:nvPr/>
        </p:nvSpPr>
        <p:spPr>
          <a:xfrm>
            <a:off x="7932420" y="3181198"/>
            <a:ext cx="752551" cy="228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/>
        </p:spPr>
      </p:sp>
      <p:sp>
        <p:nvSpPr>
          <p:cNvPr id="51" name="Text 38"/>
          <p:cNvSpPr txBox="1"/>
          <p:nvPr/>
        </p:nvSpPr>
        <p:spPr>
          <a:xfrm>
            <a:off x="8008315" y="3209544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WebSocket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1686154" y="3800246"/>
            <a:ext cx="1276502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DB0011"/>
            </a:solidFill>
            <a:prstDash val="solid"/>
          </a:ln>
        </p:spPr>
      </p:sp>
      <p:sp>
        <p:nvSpPr>
          <p:cNvPr id="53" name="Shape 40"/>
          <p:cNvSpPr/>
          <p:nvPr/>
        </p:nvSpPr>
        <p:spPr>
          <a:xfrm>
            <a:off x="2162556" y="3943807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FEF2F2"/>
          </a:solidFill>
          <a:ln/>
        </p:spPr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rcRect l="-33" r="-33" t="0" b="0"/>
          <a:stretch/>
        </p:blipFill>
        <p:spPr>
          <a:xfrm>
            <a:off x="2238451" y="4058107"/>
            <a:ext cx="171907" cy="152705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2036369" y="4390949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Recording</a:t>
            </a:r>
            <a:endParaRPr lang="en-US" sz="900" dirty="0"/>
          </a:p>
        </p:txBody>
      </p:sp>
      <p:sp>
        <p:nvSpPr>
          <p:cNvPr id="56" name="Text 42"/>
          <p:cNvSpPr txBox="1"/>
          <p:nvPr/>
        </p:nvSpPr>
        <p:spPr>
          <a:xfrm>
            <a:off x="1926641" y="4581144"/>
            <a:ext cx="9144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Interaction Capture &amp; Translation</a:t>
            </a:r>
            <a:endParaRPr lang="en-US" sz="1200" dirty="0"/>
          </a:p>
        </p:txBody>
      </p:sp>
      <p:sp>
        <p:nvSpPr>
          <p:cNvPr id="57" name="Shape 43"/>
          <p:cNvSpPr/>
          <p:nvPr/>
        </p:nvSpPr>
        <p:spPr>
          <a:xfrm>
            <a:off x="3114446" y="3800246"/>
            <a:ext cx="1276502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DB0011"/>
            </a:solidFill>
            <a:prstDash val="solid"/>
          </a:ln>
        </p:spPr>
      </p:sp>
      <p:sp>
        <p:nvSpPr>
          <p:cNvPr id="58" name="Shape 44"/>
          <p:cNvSpPr/>
          <p:nvPr/>
        </p:nvSpPr>
        <p:spPr>
          <a:xfrm>
            <a:off x="3590849" y="3943807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FEF2F2"/>
          </a:solidFill>
          <a:ln/>
        </p:spPr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13"/>
          <a:srcRect l="-33" r="-33" t="0" b="0"/>
          <a:stretch/>
        </p:blipFill>
        <p:spPr>
          <a:xfrm>
            <a:off x="3666744" y="4058107"/>
            <a:ext cx="171907" cy="152705"/>
          </a:xfrm>
          <a:prstGeom prst="rect">
            <a:avLst/>
          </a:prstGeom>
        </p:spPr>
      </p:pic>
      <p:sp>
        <p:nvSpPr>
          <p:cNvPr id="60" name="Text 45"/>
          <p:cNvSpPr txBox="1"/>
          <p:nvPr/>
        </p:nvSpPr>
        <p:spPr>
          <a:xfrm>
            <a:off x="3482950" y="4390949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Engine</a:t>
            </a:r>
            <a:endParaRPr lang="en-US" sz="900" dirty="0"/>
          </a:p>
        </p:txBody>
      </p:sp>
      <p:sp>
        <p:nvSpPr>
          <p:cNvPr id="61" name="Text 46"/>
          <p:cNvSpPr txBox="1"/>
          <p:nvPr/>
        </p:nvSpPr>
        <p:spPr>
          <a:xfrm>
            <a:off x="3246120" y="4581144"/>
            <a:ext cx="11338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Self-Healing &amp; Optimization</a:t>
            </a:r>
            <a:endParaRPr lang="en-US" sz="1200" dirty="0"/>
          </a:p>
        </p:txBody>
      </p:sp>
      <p:sp>
        <p:nvSpPr>
          <p:cNvPr id="62" name="Shape 47"/>
          <p:cNvSpPr/>
          <p:nvPr/>
        </p:nvSpPr>
        <p:spPr>
          <a:xfrm>
            <a:off x="4543654" y="3800246"/>
            <a:ext cx="1276502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DB0011"/>
            </a:solidFill>
            <a:prstDash val="solid"/>
          </a:ln>
        </p:spPr>
      </p:sp>
      <p:sp>
        <p:nvSpPr>
          <p:cNvPr id="63" name="Shape 48"/>
          <p:cNvSpPr/>
          <p:nvPr/>
        </p:nvSpPr>
        <p:spPr>
          <a:xfrm>
            <a:off x="5029200" y="3943807"/>
            <a:ext cx="304495" cy="381305"/>
          </a:xfrm>
          <a:prstGeom prst="roundRect">
            <a:avLst>
              <a:gd name="adj" fmla="val 300300"/>
            </a:avLst>
          </a:prstGeom>
          <a:solidFill>
            <a:srgbClr val="FEF2F2"/>
          </a:solidFill>
          <a:ln/>
        </p:spPr>
      </p:sp>
      <p:pic>
        <p:nvPicPr>
          <p:cNvPr id="64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5105095" y="4058107"/>
            <a:ext cx="152705" cy="152705"/>
          </a:xfrm>
          <a:prstGeom prst="rect">
            <a:avLst/>
          </a:prstGeom>
        </p:spPr>
      </p:pic>
      <p:sp>
        <p:nvSpPr>
          <p:cNvPr id="65" name="Text 49"/>
          <p:cNvSpPr txBox="1"/>
          <p:nvPr/>
        </p:nvSpPr>
        <p:spPr>
          <a:xfrm>
            <a:off x="4879238" y="4390949"/>
            <a:ext cx="6958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 Mgmt</a:t>
            </a:r>
            <a:endParaRPr lang="en-US" sz="900" dirty="0"/>
          </a:p>
        </p:txBody>
      </p:sp>
      <p:sp>
        <p:nvSpPr>
          <p:cNvPr id="66" name="Text 50"/>
          <p:cNvSpPr txBox="1"/>
          <p:nvPr/>
        </p:nvSpPr>
        <p:spPr>
          <a:xfrm>
            <a:off x="4724705" y="4581144"/>
            <a:ext cx="10387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Versioning &amp; Workflow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5971946" y="3800246"/>
            <a:ext cx="1276502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DB0011"/>
            </a:solidFill>
            <a:prstDash val="solid"/>
          </a:ln>
        </p:spPr>
      </p:sp>
      <p:sp>
        <p:nvSpPr>
          <p:cNvPr id="68" name="Shape 52"/>
          <p:cNvSpPr/>
          <p:nvPr/>
        </p:nvSpPr>
        <p:spPr>
          <a:xfrm>
            <a:off x="6439205" y="3943807"/>
            <a:ext cx="342900" cy="381305"/>
          </a:xfrm>
          <a:prstGeom prst="roundRect">
            <a:avLst>
              <a:gd name="adj" fmla="val 266667"/>
            </a:avLst>
          </a:prstGeom>
          <a:solidFill>
            <a:srgbClr val="FEF2F2"/>
          </a:solidFill>
          <a:ln/>
        </p:spPr>
      </p:sp>
      <p:pic>
        <p:nvPicPr>
          <p:cNvPr id="69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180" b="-180"/>
          <a:stretch/>
        </p:blipFill>
        <p:spPr>
          <a:xfrm>
            <a:off x="6515100" y="4058107"/>
            <a:ext cx="190195" cy="152705"/>
          </a:xfrm>
          <a:prstGeom prst="rect">
            <a:avLst/>
          </a:prstGeom>
        </p:spPr>
      </p:pic>
      <p:sp>
        <p:nvSpPr>
          <p:cNvPr id="70" name="Text 53"/>
          <p:cNvSpPr txBox="1"/>
          <p:nvPr/>
        </p:nvSpPr>
        <p:spPr>
          <a:xfrm>
            <a:off x="6359652" y="4390949"/>
            <a:ext cx="590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Executor</a:t>
            </a:r>
            <a:endParaRPr lang="en-US" sz="900" dirty="0"/>
          </a:p>
        </p:txBody>
      </p:sp>
      <p:sp>
        <p:nvSpPr>
          <p:cNvPr id="71" name="Text 54"/>
          <p:cNvSpPr txBox="1"/>
          <p:nvPr/>
        </p:nvSpPr>
        <p:spPr>
          <a:xfrm>
            <a:off x="6117336" y="4581144"/>
            <a:ext cx="11055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Playwright Orchestration</a:t>
            </a:r>
            <a:endParaRPr lang="en-US" sz="1200" dirty="0"/>
          </a:p>
        </p:txBody>
      </p:sp>
      <p:sp>
        <p:nvSpPr>
          <p:cNvPr id="72" name="Shape 55"/>
          <p:cNvSpPr/>
          <p:nvPr/>
        </p:nvSpPr>
        <p:spPr>
          <a:xfrm>
            <a:off x="7401154" y="3800246"/>
            <a:ext cx="1276502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DB0011"/>
            </a:solidFill>
            <a:prstDash val="solid"/>
          </a:ln>
        </p:spPr>
      </p:sp>
      <p:sp>
        <p:nvSpPr>
          <p:cNvPr id="73" name="Shape 56"/>
          <p:cNvSpPr/>
          <p:nvPr/>
        </p:nvSpPr>
        <p:spPr>
          <a:xfrm>
            <a:off x="7877556" y="3943807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FEF2F2"/>
          </a:solidFill>
          <a:ln/>
        </p:spPr>
      </p:sp>
      <p:pic>
        <p:nvPicPr>
          <p:cNvPr id="74" name="Image 15" descr="preencoded.png">    </p:cNvPr>
          <p:cNvPicPr>
            <a:picLocks noChangeAspect="1"/>
          </p:cNvPicPr>
          <p:nvPr/>
        </p:nvPicPr>
        <p:blipFill>
          <a:blip r:embed="rId16"/>
          <a:srcRect l="-33" r="-33" t="0" b="0"/>
          <a:stretch/>
        </p:blipFill>
        <p:spPr>
          <a:xfrm>
            <a:off x="7953451" y="4058107"/>
            <a:ext cx="171907" cy="152705"/>
          </a:xfrm>
          <a:prstGeom prst="rect">
            <a:avLst/>
          </a:prstGeom>
        </p:spPr>
      </p:pic>
      <p:sp>
        <p:nvSpPr>
          <p:cNvPr id="75" name="Text 57"/>
          <p:cNvSpPr txBox="1"/>
          <p:nvPr/>
        </p:nvSpPr>
        <p:spPr>
          <a:xfrm>
            <a:off x="7778801" y="4390949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Analytics</a:t>
            </a:r>
            <a:endParaRPr lang="en-US" sz="900" dirty="0"/>
          </a:p>
        </p:txBody>
      </p:sp>
      <p:sp>
        <p:nvSpPr>
          <p:cNvPr id="76" name="Text 58"/>
          <p:cNvSpPr txBox="1"/>
          <p:nvPr/>
        </p:nvSpPr>
        <p:spPr>
          <a:xfrm>
            <a:off x="7607808" y="4581144"/>
            <a:ext cx="9811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Reporting &amp; Metrics</a:t>
            </a:r>
            <a:endParaRPr lang="en-US" sz="1200" dirty="0"/>
          </a:p>
        </p:txBody>
      </p:sp>
      <p:sp>
        <p:nvSpPr>
          <p:cNvPr id="77" name="Shape 59"/>
          <p:cNvSpPr/>
          <p:nvPr/>
        </p:nvSpPr>
        <p:spPr>
          <a:xfrm>
            <a:off x="1447495" y="6515100"/>
            <a:ext cx="7467905" cy="381305"/>
          </a:xfrm>
          <a:prstGeom prst="roundRect">
            <a:avLst>
              <a:gd name="adj" fmla="val 47962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78" name="Text 60"/>
          <p:cNvSpPr txBox="1"/>
          <p:nvPr/>
        </p:nvSpPr>
        <p:spPr>
          <a:xfrm>
            <a:off x="990295" y="6503213"/>
            <a:ext cx="4197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LAYER</a:t>
            </a:r>
            <a:endParaRPr lang="en-US" sz="900" dirty="0"/>
          </a:p>
        </p:txBody>
      </p:sp>
      <p:pic>
        <p:nvPicPr>
          <p:cNvPr id="79" name="Image 16" descr="preencoded.png">    </p:cNvPr>
          <p:cNvPicPr>
            <a:picLocks noChangeAspect="1"/>
          </p:cNvPicPr>
          <p:nvPr/>
        </p:nvPicPr>
        <p:blipFill>
          <a:blip r:embed="rId17"/>
          <a:srcRect l="-57" r="-57" t="0" b="0"/>
          <a:stretch/>
        </p:blipFill>
        <p:spPr>
          <a:xfrm>
            <a:off x="2139696" y="6590995"/>
            <a:ext cx="200254" cy="228600"/>
          </a:xfrm>
          <a:prstGeom prst="rect">
            <a:avLst/>
          </a:prstGeom>
        </p:spPr>
      </p:pic>
      <p:sp>
        <p:nvSpPr>
          <p:cNvPr id="80" name="Text 61"/>
          <p:cNvSpPr txBox="1"/>
          <p:nvPr/>
        </p:nvSpPr>
        <p:spPr>
          <a:xfrm>
            <a:off x="2453335" y="6534302"/>
            <a:ext cx="11292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 Repository</a:t>
            </a:r>
            <a:endParaRPr lang="en-US" sz="1000" dirty="0"/>
          </a:p>
        </p:txBody>
      </p:sp>
      <p:sp>
        <p:nvSpPr>
          <p:cNvPr id="81" name="Text 62"/>
          <p:cNvSpPr txBox="1"/>
          <p:nvPr/>
        </p:nvSpPr>
        <p:spPr>
          <a:xfrm>
            <a:off x="2453335" y="6715354"/>
            <a:ext cx="715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82" name="Shape 63"/>
          <p:cNvSpPr/>
          <p:nvPr/>
        </p:nvSpPr>
        <p:spPr>
          <a:xfrm>
            <a:off x="4100170" y="6515100"/>
            <a:ext cx="9144" cy="381305"/>
          </a:xfrm>
          <a:prstGeom prst="rect">
            <a:avLst/>
          </a:prstGeom>
          <a:solidFill>
            <a:srgbClr val="4B5563"/>
          </a:solidFill>
          <a:ln/>
        </p:spPr>
      </p:sp>
      <p:pic>
        <p:nvPicPr>
          <p:cNvPr id="83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4731106" y="6590995"/>
            <a:ext cx="228600" cy="228600"/>
          </a:xfrm>
          <a:prstGeom prst="rect">
            <a:avLst/>
          </a:prstGeom>
        </p:spPr>
      </p:pic>
      <p:sp>
        <p:nvSpPr>
          <p:cNvPr id="84" name="Text 64"/>
          <p:cNvSpPr txBox="1"/>
          <p:nvPr/>
        </p:nvSpPr>
        <p:spPr>
          <a:xfrm>
            <a:off x="5074006" y="6534302"/>
            <a:ext cx="9765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Results Store</a:t>
            </a:r>
            <a:endParaRPr lang="en-US" sz="1000" dirty="0"/>
          </a:p>
        </p:txBody>
      </p:sp>
      <p:sp>
        <p:nvSpPr>
          <p:cNvPr id="85" name="Text 65"/>
          <p:cNvSpPr txBox="1"/>
          <p:nvPr/>
        </p:nvSpPr>
        <p:spPr>
          <a:xfrm>
            <a:off x="5074006" y="6715354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S3 / MinIO</a:t>
            </a:r>
            <a:endParaRPr lang="en-US" sz="900" dirty="0"/>
          </a:p>
        </p:txBody>
      </p:sp>
      <p:sp>
        <p:nvSpPr>
          <p:cNvPr id="86" name="Shape 66"/>
          <p:cNvSpPr/>
          <p:nvPr/>
        </p:nvSpPr>
        <p:spPr>
          <a:xfrm>
            <a:off x="6566306" y="6515100"/>
            <a:ext cx="9144" cy="381305"/>
          </a:xfrm>
          <a:prstGeom prst="rect">
            <a:avLst/>
          </a:prstGeom>
          <a:solidFill>
            <a:srgbClr val="4B5563"/>
          </a:solidFill>
          <a:ln/>
        </p:spPr>
      </p:sp>
      <p:pic>
        <p:nvPicPr>
          <p:cNvPr id="87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45" b="-45"/>
          <a:stretch/>
        </p:blipFill>
        <p:spPr>
          <a:xfrm>
            <a:off x="7197242" y="6590995"/>
            <a:ext cx="256946" cy="228600"/>
          </a:xfrm>
          <a:prstGeom prst="rect">
            <a:avLst/>
          </a:prstGeom>
        </p:spPr>
      </p:pic>
      <p:sp>
        <p:nvSpPr>
          <p:cNvPr id="88" name="Text 67"/>
          <p:cNvSpPr txBox="1"/>
          <p:nvPr/>
        </p:nvSpPr>
        <p:spPr>
          <a:xfrm>
            <a:off x="7569403" y="6534302"/>
            <a:ext cx="7580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Vector DB</a:t>
            </a:r>
            <a:endParaRPr lang="en-US" sz="1000" dirty="0"/>
          </a:p>
        </p:txBody>
      </p:sp>
      <p:sp>
        <p:nvSpPr>
          <p:cNvPr id="89" name="Text 68"/>
          <p:cNvSpPr txBox="1"/>
          <p:nvPr/>
        </p:nvSpPr>
        <p:spPr>
          <a:xfrm>
            <a:off x="7569403" y="6715354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Context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9235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3" b="-83"/>
          <a:stretch/>
        </p:blipFill>
        <p:spPr>
          <a:xfrm>
            <a:off x="457200" y="314554"/>
            <a:ext cx="1190549" cy="2862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29054" y="304495"/>
            <a:ext cx="9144" cy="30449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190902" y="295351"/>
            <a:ext cx="23911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Value &amp; ROI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400386" y="362102"/>
            <a:ext cx="14438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STRATEGIC IMPACT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923544"/>
            <a:ext cx="12191695" cy="593445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228954"/>
            <a:ext cx="3610051" cy="1886407"/>
          </a:xfrm>
          <a:prstGeom prst="rect">
            <a:avLst/>
          </a:prstGeom>
          <a:solidFill>
            <a:srgbClr val="FFFFFF"/>
          </a:solidFill>
          <a:ln w="50800">
            <a:solidFill>
              <a:srgbClr val="DB0011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7454" y="145755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EE2E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1754" y="1571854"/>
            <a:ext cx="152705" cy="1527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52144" y="1533449"/>
            <a:ext cx="15672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Delivery Velocity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7454" y="1962302"/>
            <a:ext cx="3310128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Accelerate release cycles by reducing regression testing time from days to hours. Enable continuous delivery pipelines.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-133" r="-133" t="0" b="0"/>
          <a:stretch/>
        </p:blipFill>
        <p:spPr>
          <a:xfrm>
            <a:off x="657454" y="2774290"/>
            <a:ext cx="85954" cy="1143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80898" y="2755087"/>
            <a:ext cx="1600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60% Faster Time-to-Market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292194" y="1228954"/>
            <a:ext cx="3610051" cy="1886407"/>
          </a:xfrm>
          <a:prstGeom prst="rect">
            <a:avLst/>
          </a:prstGeom>
          <a:solidFill>
            <a:srgbClr val="FFFFFF"/>
          </a:solidFill>
          <a:ln w="50800">
            <a:solidFill>
              <a:srgbClr val="DB0011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492447" y="145755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EE2E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06747" y="1571854"/>
            <a:ext cx="152705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988052" y="1533449"/>
            <a:ext cx="1377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Cost Efficiency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4492447" y="1962302"/>
            <a:ext cx="3300984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 manual testing overhead and maintenance costs through AI-driven self-healing scripts and reusable components.</a:t>
            </a:r>
            <a:endParaRPr lang="en-US" sz="10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-133" r="-133" t="0" b="0"/>
          <a:stretch/>
        </p:blipFill>
        <p:spPr>
          <a:xfrm>
            <a:off x="4492447" y="2774290"/>
            <a:ext cx="85954" cy="1143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616806" y="2755087"/>
            <a:ext cx="1010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40% Lower OpEx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8128102" y="1228954"/>
            <a:ext cx="3610051" cy="1886407"/>
          </a:xfrm>
          <a:prstGeom prst="rect">
            <a:avLst/>
          </a:prstGeom>
          <a:solidFill>
            <a:srgbClr val="FFFFFF"/>
          </a:solidFill>
          <a:ln w="50800">
            <a:solidFill>
              <a:srgbClr val="DB0011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328355" y="145755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EE2E2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442655" y="1571854"/>
            <a:ext cx="152705" cy="15270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823046" y="1533449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&amp; Compliance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8328355" y="1962302"/>
            <a:ext cx="3272638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Ensure regulatory compliance with comprehensive audit trails, standardized reporting, and increased test coverage.</a:t>
            </a:r>
            <a:endParaRPr lang="en-US" sz="10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8328355" y="2774290"/>
            <a:ext cx="105156" cy="1143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471002" y="2755087"/>
            <a:ext cx="13149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 Audit Readiness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457200" y="3412541"/>
            <a:ext cx="5486400" cy="3600907"/>
          </a:xfrm>
          <a:prstGeom prst="roundRect">
            <a:avLst>
              <a:gd name="adj" fmla="val 5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94944" y="3688690"/>
            <a:ext cx="152705" cy="15270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23544" y="3650285"/>
            <a:ext cx="2610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Projected Annual Impact (Year 1)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694944" y="4107485"/>
            <a:ext cx="2428646" cy="1067105"/>
          </a:xfrm>
          <a:prstGeom prst="roundRect">
            <a:avLst>
              <a:gd name="adj" fmla="val 6121"/>
            </a:avLst>
          </a:prstGeom>
          <a:solidFill>
            <a:srgbClr val="F9FAFB"/>
          </a:solidFill>
          <a:ln/>
        </p:spPr>
      </p:sp>
      <p:sp>
        <p:nvSpPr>
          <p:cNvPr id="36" name="Shape 26"/>
          <p:cNvSpPr/>
          <p:nvPr/>
        </p:nvSpPr>
        <p:spPr>
          <a:xfrm>
            <a:off x="694944" y="4107485"/>
            <a:ext cx="28346" cy="1067105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7" name="Text 27"/>
          <p:cNvSpPr txBox="1"/>
          <p:nvPr/>
        </p:nvSpPr>
        <p:spPr>
          <a:xfrm>
            <a:off x="875995" y="4250131"/>
            <a:ext cx="9628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TOTAL SAVINGS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875995" y="4441241"/>
            <a:ext cx="848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B00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$2.4M</a:t>
            </a:r>
            <a:endParaRPr lang="en-US" sz="1800" dirty="0"/>
          </a:p>
        </p:txBody>
      </p:sp>
      <p:sp>
        <p:nvSpPr>
          <p:cNvPr id="39" name="Text 29"/>
          <p:cNvSpPr txBox="1"/>
          <p:nvPr/>
        </p:nvSpPr>
        <p:spPr>
          <a:xfrm>
            <a:off x="875995" y="4803343"/>
            <a:ext cx="17245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Labor &amp; Infrastructure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3276295" y="4107485"/>
            <a:ext cx="2428646" cy="1067105"/>
          </a:xfrm>
          <a:prstGeom prst="roundRect">
            <a:avLst>
              <a:gd name="adj" fmla="val 6121"/>
            </a:avLst>
          </a:prstGeom>
          <a:solidFill>
            <a:srgbClr val="F9FAFB"/>
          </a:solidFill>
          <a:ln/>
        </p:spPr>
      </p:sp>
      <p:sp>
        <p:nvSpPr>
          <p:cNvPr id="41" name="Shape 31"/>
          <p:cNvSpPr/>
          <p:nvPr/>
        </p:nvSpPr>
        <p:spPr>
          <a:xfrm>
            <a:off x="3276295" y="4107485"/>
            <a:ext cx="28346" cy="1067105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2" name="Text 32"/>
          <p:cNvSpPr txBox="1"/>
          <p:nvPr/>
        </p:nvSpPr>
        <p:spPr>
          <a:xfrm>
            <a:off x="3457346" y="4250131"/>
            <a:ext cx="295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ROI</a:t>
            </a:r>
            <a:endParaRPr lang="en-US" sz="900" dirty="0"/>
          </a:p>
        </p:txBody>
      </p:sp>
      <p:sp>
        <p:nvSpPr>
          <p:cNvPr id="43" name="Text 33"/>
          <p:cNvSpPr txBox="1"/>
          <p:nvPr/>
        </p:nvSpPr>
        <p:spPr>
          <a:xfrm>
            <a:off x="3457346" y="4441241"/>
            <a:ext cx="7717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350%</a:t>
            </a:r>
            <a:endParaRPr lang="en-US" sz="1800" dirty="0"/>
          </a:p>
        </p:txBody>
      </p:sp>
      <p:sp>
        <p:nvSpPr>
          <p:cNvPr id="44" name="Text 34"/>
          <p:cNvSpPr txBox="1"/>
          <p:nvPr/>
        </p:nvSpPr>
        <p:spPr>
          <a:xfrm>
            <a:off x="3457346" y="4803343"/>
            <a:ext cx="17337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Break-even in Month 4</a:t>
            </a:r>
            <a:endParaRPr lang="en-US" sz="1200" dirty="0"/>
          </a:p>
        </p:txBody>
      </p:sp>
      <p:sp>
        <p:nvSpPr>
          <p:cNvPr id="45" name="Shape 35"/>
          <p:cNvSpPr/>
          <p:nvPr/>
        </p:nvSpPr>
        <p:spPr>
          <a:xfrm>
            <a:off x="694944" y="5327294"/>
            <a:ext cx="2428646" cy="1067105"/>
          </a:xfrm>
          <a:prstGeom prst="roundRect">
            <a:avLst>
              <a:gd name="adj" fmla="val 6121"/>
            </a:avLst>
          </a:prstGeom>
          <a:solidFill>
            <a:srgbClr val="F9FAFB"/>
          </a:solidFill>
          <a:ln/>
        </p:spPr>
      </p:sp>
      <p:sp>
        <p:nvSpPr>
          <p:cNvPr id="46" name="Shape 36"/>
          <p:cNvSpPr/>
          <p:nvPr/>
        </p:nvSpPr>
        <p:spPr>
          <a:xfrm>
            <a:off x="694944" y="5327294"/>
            <a:ext cx="28346" cy="1067105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7" name="Text 37"/>
          <p:cNvSpPr txBox="1"/>
          <p:nvPr/>
        </p:nvSpPr>
        <p:spPr>
          <a:xfrm>
            <a:off x="875995" y="5469941"/>
            <a:ext cx="1276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DEFECT PREVENTION</a:t>
            </a:r>
            <a:endParaRPr lang="en-US" sz="900" dirty="0"/>
          </a:p>
        </p:txBody>
      </p:sp>
      <p:sp>
        <p:nvSpPr>
          <p:cNvPr id="48" name="Text 38"/>
          <p:cNvSpPr txBox="1"/>
          <p:nvPr/>
        </p:nvSpPr>
        <p:spPr>
          <a:xfrm>
            <a:off x="875995" y="5660136"/>
            <a:ext cx="8385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$850k</a:t>
            </a:r>
            <a:endParaRPr lang="en-US" sz="1800" dirty="0"/>
          </a:p>
        </p:txBody>
      </p:sp>
      <p:sp>
        <p:nvSpPr>
          <p:cNvPr id="49" name="Text 39"/>
          <p:cNvSpPr txBox="1"/>
          <p:nvPr/>
        </p:nvSpPr>
        <p:spPr>
          <a:xfrm>
            <a:off x="875995" y="6022238"/>
            <a:ext cx="12097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Cost Avoidance</a:t>
            </a:r>
            <a:endParaRPr lang="en-US" sz="1200" dirty="0"/>
          </a:p>
        </p:txBody>
      </p:sp>
      <p:sp>
        <p:nvSpPr>
          <p:cNvPr id="50" name="Shape 40"/>
          <p:cNvSpPr/>
          <p:nvPr/>
        </p:nvSpPr>
        <p:spPr>
          <a:xfrm>
            <a:off x="3276295" y="5327294"/>
            <a:ext cx="2428646" cy="1067105"/>
          </a:xfrm>
          <a:prstGeom prst="roundRect">
            <a:avLst>
              <a:gd name="adj" fmla="val 6121"/>
            </a:avLst>
          </a:prstGeom>
          <a:solidFill>
            <a:srgbClr val="F9FAFB"/>
          </a:solidFill>
          <a:ln/>
        </p:spPr>
      </p:sp>
      <p:sp>
        <p:nvSpPr>
          <p:cNvPr id="51" name="Shape 41"/>
          <p:cNvSpPr/>
          <p:nvPr/>
        </p:nvSpPr>
        <p:spPr>
          <a:xfrm>
            <a:off x="3276295" y="5327294"/>
            <a:ext cx="28346" cy="1067105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2" name="Text 42"/>
          <p:cNvSpPr txBox="1"/>
          <p:nvPr/>
        </p:nvSpPr>
        <p:spPr>
          <a:xfrm>
            <a:off x="3457346" y="5469941"/>
            <a:ext cx="10671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EFFICIENCY GAIN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3457346" y="5660136"/>
            <a:ext cx="1047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12,000h</a:t>
            </a:r>
            <a:endParaRPr lang="en-US" sz="1800" dirty="0"/>
          </a:p>
        </p:txBody>
      </p:sp>
      <p:sp>
        <p:nvSpPr>
          <p:cNvPr id="54" name="Text 44"/>
          <p:cNvSpPr txBox="1"/>
          <p:nvPr/>
        </p:nvSpPr>
        <p:spPr>
          <a:xfrm>
            <a:off x="3457346" y="6022238"/>
            <a:ext cx="14676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Hours Repurposed</a:t>
            </a:r>
            <a:endParaRPr lang="en-US" sz="1200" dirty="0"/>
          </a:p>
        </p:txBody>
      </p:sp>
      <p:sp>
        <p:nvSpPr>
          <p:cNvPr id="55" name="Shape 45"/>
          <p:cNvSpPr/>
          <p:nvPr/>
        </p:nvSpPr>
        <p:spPr>
          <a:xfrm>
            <a:off x="6248095" y="3412541"/>
            <a:ext cx="5486400" cy="3600907"/>
          </a:xfrm>
          <a:prstGeom prst="roundRect">
            <a:avLst>
              <a:gd name="adj" fmla="val 5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56" name="Text 46"/>
          <p:cNvSpPr txBox="1"/>
          <p:nvPr/>
        </p:nvSpPr>
        <p:spPr>
          <a:xfrm>
            <a:off x="6486754" y="3660343"/>
            <a:ext cx="3067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Cost Projection: Manual vs. Automated</a:t>
            </a:r>
            <a:endParaRPr lang="en-US" sz="1200" dirty="0"/>
          </a:p>
        </p:txBody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rcRect l="-4" r="-4" t="0" b="0"/>
          <a:stretch/>
        </p:blipFill>
        <p:spPr>
          <a:xfrm>
            <a:off x="6486754" y="3955694"/>
            <a:ext cx="5009998" cy="2819095"/>
          </a:xfrm>
          <a:prstGeom prst="rect">
            <a:avLst/>
          </a:prstGeom>
        </p:spPr>
      </p:pic>
      <p:sp>
        <p:nvSpPr>
          <p:cNvPr id="58" name="Shape 47"/>
          <p:cNvSpPr/>
          <p:nvPr/>
        </p:nvSpPr>
        <p:spPr>
          <a:xfrm>
            <a:off x="457200" y="7317943"/>
            <a:ext cx="11277295" cy="2048256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59" name="Text 48"/>
          <p:cNvSpPr txBox="1"/>
          <p:nvPr/>
        </p:nvSpPr>
        <p:spPr>
          <a:xfrm>
            <a:off x="694944" y="7564831"/>
            <a:ext cx="19147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Strategic Adoption Plan</a:t>
            </a:r>
            <a:endParaRPr lang="en-US" sz="1200" dirty="0"/>
          </a:p>
        </p:txBody>
      </p:sp>
      <p:sp>
        <p:nvSpPr>
          <p:cNvPr id="60" name="Shape 49"/>
          <p:cNvSpPr/>
          <p:nvPr/>
        </p:nvSpPr>
        <p:spPr>
          <a:xfrm>
            <a:off x="694944" y="7956194"/>
            <a:ext cx="152705" cy="152705"/>
          </a:xfrm>
          <a:prstGeom prst="ellipse">
            <a:avLst/>
          </a:prstGeom>
          <a:solidFill>
            <a:srgbClr val="DB001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db0011">
                <a:alpha val="100000"/>
              </a:srgbClr>
            </a:outerShdw>
          </a:effectLst>
        </p:spPr>
      </p:sp>
      <p:sp>
        <p:nvSpPr>
          <p:cNvPr id="61" name="Text 50"/>
          <p:cNvSpPr txBox="1"/>
          <p:nvPr/>
        </p:nvSpPr>
        <p:spPr>
          <a:xfrm>
            <a:off x="694944" y="8241487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B00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Phase 1: Pilot</a:t>
            </a:r>
            <a:endParaRPr lang="en-US" sz="1000" dirty="0"/>
          </a:p>
        </p:txBody>
      </p:sp>
      <p:sp>
        <p:nvSpPr>
          <p:cNvPr id="62" name="Text 51"/>
          <p:cNvSpPr txBox="1"/>
          <p:nvPr/>
        </p:nvSpPr>
        <p:spPr>
          <a:xfrm>
            <a:off x="694944" y="8460943"/>
            <a:ext cx="534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Q1 2026</a:t>
            </a:r>
            <a:endParaRPr lang="en-US" sz="900" dirty="0"/>
          </a:p>
        </p:txBody>
      </p:sp>
      <p:sp>
        <p:nvSpPr>
          <p:cNvPr id="63" name="Text 52"/>
          <p:cNvSpPr txBox="1"/>
          <p:nvPr/>
        </p:nvSpPr>
        <p:spPr>
          <a:xfrm>
            <a:off x="694944" y="8689543"/>
            <a:ext cx="26389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Deploy to 2 high-priority agile squads. Establish baseline metrics and refine governance workflows.</a:t>
            </a:r>
            <a:endParaRPr lang="en-US" sz="900" dirty="0"/>
          </a:p>
        </p:txBody>
      </p:sp>
      <p:sp>
        <p:nvSpPr>
          <p:cNvPr id="64" name="Shape 53"/>
          <p:cNvSpPr/>
          <p:nvPr/>
        </p:nvSpPr>
        <p:spPr>
          <a:xfrm>
            <a:off x="3433572" y="7956194"/>
            <a:ext cx="152705" cy="152705"/>
          </a:xfrm>
          <a:prstGeom prst="ellipse">
            <a:avLst/>
          </a:prstGeom>
          <a:solidFill>
            <a:srgbClr val="DB001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db0011">
                <a:alpha val="100000"/>
              </a:srgbClr>
            </a:outerShdw>
          </a:effectLst>
        </p:spPr>
      </p:sp>
      <p:sp>
        <p:nvSpPr>
          <p:cNvPr id="65" name="Text 54"/>
          <p:cNvSpPr txBox="1"/>
          <p:nvPr/>
        </p:nvSpPr>
        <p:spPr>
          <a:xfrm>
            <a:off x="3433572" y="8241487"/>
            <a:ext cx="15764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B00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Phase 2: Core Banking</a:t>
            </a:r>
            <a:endParaRPr lang="en-US" sz="1000" dirty="0"/>
          </a:p>
        </p:txBody>
      </p:sp>
      <p:sp>
        <p:nvSpPr>
          <p:cNvPr id="66" name="Text 55"/>
          <p:cNvSpPr txBox="1"/>
          <p:nvPr/>
        </p:nvSpPr>
        <p:spPr>
          <a:xfrm>
            <a:off x="3433572" y="8460943"/>
            <a:ext cx="7342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Q2-Q3 2026</a:t>
            </a:r>
            <a:endParaRPr lang="en-US" sz="900" dirty="0"/>
          </a:p>
        </p:txBody>
      </p:sp>
      <p:sp>
        <p:nvSpPr>
          <p:cNvPr id="67" name="Text 56"/>
          <p:cNvSpPr txBox="1"/>
          <p:nvPr/>
        </p:nvSpPr>
        <p:spPr>
          <a:xfrm>
            <a:off x="3433572" y="8689543"/>
            <a:ext cx="246705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Scale to Retail &amp; Wealth portfolios. Integrate with main CI/CD pipelines and standardize reporting.</a:t>
            </a:r>
            <a:endParaRPr lang="en-US" sz="900" dirty="0"/>
          </a:p>
        </p:txBody>
      </p:sp>
      <p:sp>
        <p:nvSpPr>
          <p:cNvPr id="68" name="Shape 57"/>
          <p:cNvSpPr/>
          <p:nvPr/>
        </p:nvSpPr>
        <p:spPr>
          <a:xfrm>
            <a:off x="6172200" y="7956194"/>
            <a:ext cx="152705" cy="152705"/>
          </a:xfrm>
          <a:prstGeom prst="ellipse">
            <a:avLst/>
          </a:prstGeom>
          <a:solidFill>
            <a:srgbClr val="E5E7EB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69" name="Text 58"/>
          <p:cNvSpPr txBox="1"/>
          <p:nvPr/>
        </p:nvSpPr>
        <p:spPr>
          <a:xfrm>
            <a:off x="6172200" y="8241487"/>
            <a:ext cx="16248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Phase 3: Global Rollout</a:t>
            </a:r>
            <a:endParaRPr lang="en-US" sz="1000" dirty="0"/>
          </a:p>
        </p:txBody>
      </p:sp>
      <p:sp>
        <p:nvSpPr>
          <p:cNvPr id="70" name="Text 59"/>
          <p:cNvSpPr txBox="1"/>
          <p:nvPr/>
        </p:nvSpPr>
        <p:spPr>
          <a:xfrm>
            <a:off x="6172200" y="8460943"/>
            <a:ext cx="6007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Q4 2026+</a:t>
            </a:r>
            <a:endParaRPr lang="en-US" sz="900" dirty="0"/>
          </a:p>
        </p:txBody>
      </p:sp>
      <p:sp>
        <p:nvSpPr>
          <p:cNvPr id="71" name="Text 60"/>
          <p:cNvSpPr txBox="1"/>
          <p:nvPr/>
        </p:nvSpPr>
        <p:spPr>
          <a:xfrm>
            <a:off x="6172200" y="8689543"/>
            <a:ext cx="245790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Enterprise-wide adoption across all geographies. Enable cross-team component sharing and advanced AI features.</a:t>
            </a:r>
            <a:endParaRPr lang="en-US" sz="900" dirty="0"/>
          </a:p>
        </p:txBody>
      </p:sp>
      <p:sp>
        <p:nvSpPr>
          <p:cNvPr id="72" name="Shape 61"/>
          <p:cNvSpPr/>
          <p:nvPr/>
        </p:nvSpPr>
        <p:spPr>
          <a:xfrm>
            <a:off x="8910828" y="7956194"/>
            <a:ext cx="152705" cy="152705"/>
          </a:xfrm>
          <a:prstGeom prst="ellipse">
            <a:avLst/>
          </a:prstGeom>
          <a:solidFill>
            <a:srgbClr val="E5E7EB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73" name="Text 62"/>
          <p:cNvSpPr txBox="1"/>
          <p:nvPr/>
        </p:nvSpPr>
        <p:spPr>
          <a:xfrm>
            <a:off x="8910828" y="8241487"/>
            <a:ext cx="15581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Phase 4: Optimization</a:t>
            </a:r>
            <a:endParaRPr lang="en-US" sz="1000" dirty="0"/>
          </a:p>
        </p:txBody>
      </p:sp>
      <p:sp>
        <p:nvSpPr>
          <p:cNvPr id="74" name="Text 63"/>
          <p:cNvSpPr txBox="1"/>
          <p:nvPr/>
        </p:nvSpPr>
        <p:spPr>
          <a:xfrm>
            <a:off x="8910828" y="8460943"/>
            <a:ext cx="4197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2027+</a:t>
            </a:r>
            <a:endParaRPr lang="en-US" sz="900" dirty="0"/>
          </a:p>
        </p:txBody>
      </p:sp>
      <p:sp>
        <p:nvSpPr>
          <p:cNvPr id="75" name="Text 64"/>
          <p:cNvSpPr txBox="1"/>
          <p:nvPr/>
        </p:nvSpPr>
        <p:spPr>
          <a:xfrm>
            <a:off x="8910828" y="8689543"/>
            <a:ext cx="23911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 maturity. Focus on predictive quality analytics and autonomous test generation.</a:t>
            </a:r>
            <a:endParaRPr lang="en-US" sz="900" dirty="0"/>
          </a:p>
        </p:txBody>
      </p:sp>
      <p:sp>
        <p:nvSpPr>
          <p:cNvPr id="76" name="Text 65"/>
          <p:cNvSpPr txBox="1"/>
          <p:nvPr/>
        </p:nvSpPr>
        <p:spPr>
          <a:xfrm>
            <a:off x="8908999" y="6543446"/>
            <a:ext cx="2915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Confidential &amp; Proprietary | HSBC Group Technology</a:t>
            </a:r>
            <a:endParaRPr lang="en-US" sz="900" dirty="0"/>
          </a:p>
        </p:txBody>
      </p:sp>
      <p:sp>
        <p:nvSpPr>
          <p:cNvPr id="77" name="Shape 66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DB0011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2191695" cy="9235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3" b="-83"/>
          <a:stretch/>
        </p:blipFill>
        <p:spPr>
          <a:xfrm>
            <a:off x="457200" y="314554"/>
            <a:ext cx="1190549" cy="2862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29054" y="304495"/>
            <a:ext cx="9144" cy="30449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190902" y="295351"/>
            <a:ext cx="35058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Steps &amp; Execution Strategy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630814" y="362102"/>
            <a:ext cx="12051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PATH FORWARD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923544"/>
            <a:ext cx="12191695" cy="797265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304849"/>
            <a:ext cx="38405" cy="2670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3095" y="1324051"/>
            <a:ext cx="3158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Proposed Implementation Timeline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33602" y="2162556"/>
            <a:ext cx="10325405" cy="1920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125066" y="2771546"/>
            <a:ext cx="967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272284" y="3057754"/>
            <a:ext cx="6437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Weeks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892808" y="3314700"/>
            <a:ext cx="1381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Stakeholder alignment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969618" y="3467405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Environment access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2101291" y="3619195"/>
            <a:ext cx="972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Security review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509260" y="2771546"/>
            <a:ext cx="1310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Pilot Program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757062" y="3057754"/>
            <a:ext cx="7863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4–6 Weeks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478170" y="3314700"/>
            <a:ext cx="13240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Top 2 critical journeys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591556" y="3467405"/>
            <a:ext cx="10954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Integration setup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5412334" y="3619195"/>
            <a:ext cx="14575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Initial KPI measurement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258300" y="2771546"/>
            <a:ext cx="919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Scale-out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111996" y="3057754"/>
            <a:ext cx="11859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Quarterly Waves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9146743" y="3314700"/>
            <a:ext cx="1105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Enterprise rollout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9132113" y="3467405"/>
            <a:ext cx="1133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Team enablement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9025128" y="3619195"/>
            <a:ext cx="1343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Advanced AI adoption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57200" y="4315054"/>
            <a:ext cx="38405" cy="2670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33095" y="4334256"/>
            <a:ext cx="17574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Immediate Actions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57200" y="4809744"/>
            <a:ext cx="5410505" cy="705002"/>
          </a:xfrm>
          <a:prstGeom prst="roundRect">
            <a:avLst>
              <a:gd name="adj" fmla="val 105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049" y="5031943"/>
            <a:ext cx="171907" cy="171907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942746" y="4972507"/>
            <a:ext cx="21104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Confirm Scope &amp; Stakeholders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942746" y="5191049"/>
            <a:ext cx="32004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Identify key decision makers and pilot application owners.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57200" y="5667451"/>
            <a:ext cx="5410505" cy="705002"/>
          </a:xfrm>
          <a:prstGeom prst="roundRect">
            <a:avLst>
              <a:gd name="adj" fmla="val 105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9049" y="5888736"/>
            <a:ext cx="171907" cy="171907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942746" y="5829300"/>
            <a:ext cx="17007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Pilot Applications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942746" y="6048756"/>
            <a:ext cx="3277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Choose 2-3 high-impact, medium-complexity user journeys.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457200" y="6524244"/>
            <a:ext cx="5410505" cy="705002"/>
          </a:xfrm>
          <a:prstGeom prst="roundRect">
            <a:avLst>
              <a:gd name="adj" fmla="val 105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049" y="6746443"/>
            <a:ext cx="171907" cy="171907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942746" y="6687007"/>
            <a:ext cx="16148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Define Success Metrics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942746" y="6905549"/>
            <a:ext cx="31720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Establish baseline benchmarks for current testing efforts.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457200" y="7381951"/>
            <a:ext cx="5410505" cy="705002"/>
          </a:xfrm>
          <a:prstGeom prst="roundRect">
            <a:avLst>
              <a:gd name="adj" fmla="val 105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19049" y="7603236"/>
            <a:ext cx="171907" cy="171907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942746" y="7543800"/>
            <a:ext cx="18434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Schedule Deep-Dive Demo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942746" y="7763256"/>
            <a:ext cx="3029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session with architecture and security teams.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6324905" y="4315054"/>
            <a:ext cx="38405" cy="26700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6400800" y="4334256"/>
            <a:ext cx="2062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Support &amp; Enablement</a:t>
            </a:r>
            <a:endParaRPr lang="en-US" sz="1300" dirty="0"/>
          </a:p>
        </p:txBody>
      </p:sp>
      <p:sp>
        <p:nvSpPr>
          <p:cNvPr id="49" name="Shape 42"/>
          <p:cNvSpPr/>
          <p:nvPr/>
        </p:nvSpPr>
        <p:spPr>
          <a:xfrm>
            <a:off x="6324905" y="4809744"/>
            <a:ext cx="5410505" cy="4200754"/>
          </a:xfrm>
          <a:prstGeom prst="roundRect">
            <a:avLst>
              <a:gd name="adj" fmla="val 395"/>
            </a:avLst>
          </a:prstGeom>
          <a:solidFill>
            <a:srgbClr val="2D2D2D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10515600" y="4809744"/>
            <a:ext cx="1218895" cy="1218895"/>
          </a:xfrm>
          <a:prstGeom prst="rect">
            <a:avLst/>
          </a:prstGeom>
          <a:solidFill>
            <a:srgbClr val="DB0011">
              <a:alpha val="10000"/>
            </a:srgbClr>
          </a:solidFill>
          <a:ln/>
        </p:spPr>
      </p:sp>
      <p:sp>
        <p:nvSpPr>
          <p:cNvPr id="51" name="Text 44"/>
          <p:cNvSpPr txBox="1"/>
          <p:nvPr/>
        </p:nvSpPr>
        <p:spPr>
          <a:xfrm>
            <a:off x="6629400" y="5105095"/>
            <a:ext cx="1295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PRIMARY CONTACT</a:t>
            </a:r>
            <a:endParaRPr lang="en-US" sz="900" dirty="0"/>
          </a:p>
        </p:txBody>
      </p:sp>
      <p:sp>
        <p:nvSpPr>
          <p:cNvPr id="52" name="Text 45"/>
          <p:cNvSpPr txBox="1"/>
          <p:nvPr/>
        </p:nvSpPr>
        <p:spPr>
          <a:xfrm>
            <a:off x="6629400" y="5410505"/>
            <a:ext cx="29910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 Enablement Team</a:t>
            </a:r>
            <a:endParaRPr lang="en-US" sz="1800" dirty="0"/>
          </a:p>
        </p:txBody>
      </p:sp>
      <p:sp>
        <p:nvSpPr>
          <p:cNvPr id="53" name="Text 46"/>
          <p:cNvSpPr txBox="1"/>
          <p:nvPr/>
        </p:nvSpPr>
        <p:spPr>
          <a:xfrm>
            <a:off x="6629400" y="5800954"/>
            <a:ext cx="29004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Dedicated support for HSBC implementation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6629400" y="6295644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374151"/>
          </a:solidFill>
          <a:ln/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705295" y="6372454"/>
            <a:ext cx="152705" cy="152705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7048195" y="6353251"/>
            <a:ext cx="18342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test-automation@hsbc.com</a:t>
            </a:r>
            <a:endParaRPr lang="en-US" sz="1000" dirty="0"/>
          </a:p>
        </p:txBody>
      </p:sp>
      <p:sp>
        <p:nvSpPr>
          <p:cNvPr id="57" name="Shape 49"/>
          <p:cNvSpPr/>
          <p:nvPr/>
        </p:nvSpPr>
        <p:spPr>
          <a:xfrm>
            <a:off x="6629400" y="6752844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374151"/>
          </a:solidFill>
          <a:ln/>
        </p:spPr>
      </p:sp>
      <p:pic>
        <p:nvPicPr>
          <p:cNvPr id="5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6715354" y="6829654"/>
            <a:ext cx="133502" cy="152705"/>
          </a:xfrm>
          <a:prstGeom prst="rect">
            <a:avLst/>
          </a:prstGeom>
        </p:spPr>
      </p:pic>
      <p:sp>
        <p:nvSpPr>
          <p:cNvPr id="59" name="Text 50"/>
          <p:cNvSpPr txBox="1"/>
          <p:nvPr/>
        </p:nvSpPr>
        <p:spPr>
          <a:xfrm>
            <a:off x="7048195" y="6810451"/>
            <a:ext cx="18150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Book a Technical Workshop</a:t>
            </a:r>
            <a:endParaRPr lang="en-US" sz="1000" dirty="0"/>
          </a:p>
        </p:txBody>
      </p:sp>
      <p:sp>
        <p:nvSpPr>
          <p:cNvPr id="60" name="Shape 51"/>
          <p:cNvSpPr/>
          <p:nvPr/>
        </p:nvSpPr>
        <p:spPr>
          <a:xfrm>
            <a:off x="6629400" y="7210044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374151"/>
          </a:solidFill>
          <a:ln/>
        </p:spPr>
      </p:sp>
      <p:pic>
        <p:nvPicPr>
          <p:cNvPr id="6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6715354" y="7286854"/>
            <a:ext cx="133502" cy="152705"/>
          </a:xfrm>
          <a:prstGeom prst="rect">
            <a:avLst/>
          </a:prstGeom>
        </p:spPr>
      </p:pic>
      <p:sp>
        <p:nvSpPr>
          <p:cNvPr id="62" name="Text 52"/>
          <p:cNvSpPr txBox="1"/>
          <p:nvPr/>
        </p:nvSpPr>
        <p:spPr>
          <a:xfrm>
            <a:off x="7048195" y="7267651"/>
            <a:ext cx="19385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View Internal Documentation</a:t>
            </a:r>
            <a:endParaRPr lang="en-US" sz="1000" dirty="0"/>
          </a:p>
        </p:txBody>
      </p:sp>
      <p:sp>
        <p:nvSpPr>
          <p:cNvPr id="63" name="Shape 53"/>
          <p:cNvSpPr/>
          <p:nvPr/>
        </p:nvSpPr>
        <p:spPr>
          <a:xfrm>
            <a:off x="6629400" y="8315554"/>
            <a:ext cx="4800600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4" name="Text 54"/>
          <p:cNvSpPr txBox="1"/>
          <p:nvPr/>
        </p:nvSpPr>
        <p:spPr>
          <a:xfrm>
            <a:off x="6629400" y="8544154"/>
            <a:ext cx="1286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Review Status</a:t>
            </a:r>
            <a:endParaRPr lang="en-US" sz="900" dirty="0"/>
          </a:p>
        </p:txBody>
      </p:sp>
      <p:pic>
        <p:nvPicPr>
          <p:cNvPr id="6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505542" y="8567928"/>
            <a:ext cx="114300" cy="114300"/>
          </a:xfrm>
          <a:prstGeom prst="rect">
            <a:avLst/>
          </a:prstGeom>
        </p:spPr>
      </p:pic>
      <p:sp>
        <p:nvSpPr>
          <p:cNvPr id="66" name="Text 55"/>
          <p:cNvSpPr txBox="1"/>
          <p:nvPr/>
        </p:nvSpPr>
        <p:spPr>
          <a:xfrm>
            <a:off x="10658246" y="8544154"/>
            <a:ext cx="8668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Pre-Approved</a:t>
            </a:r>
            <a:endParaRPr lang="en-US" sz="900" dirty="0"/>
          </a:p>
        </p:txBody>
      </p:sp>
      <p:sp>
        <p:nvSpPr>
          <p:cNvPr id="67" name="Text 56"/>
          <p:cNvSpPr txBox="1"/>
          <p:nvPr/>
        </p:nvSpPr>
        <p:spPr>
          <a:xfrm>
            <a:off x="8908999" y="6543446"/>
            <a:ext cx="2915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Confidential &amp; Proprietary | HSBC Group Technology</a:t>
            </a:r>
            <a:endParaRPr lang="en-US" sz="900" dirty="0"/>
          </a:p>
        </p:txBody>
      </p:sp>
      <p:sp>
        <p:nvSpPr>
          <p:cNvPr id="68" name="Shape 57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69" name="Shape 58"/>
          <p:cNvSpPr/>
          <p:nvPr/>
        </p:nvSpPr>
        <p:spPr>
          <a:xfrm>
            <a:off x="2253996" y="2029054"/>
            <a:ext cx="571500" cy="571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B0011"/>
            </a:solidFill>
            <a:prstDash val="solid"/>
          </a:ln>
          <a:effectLst>
            <a:outerShdw sx="100000" sy="100000" kx="0" ky="0" algn="bl" rotWithShape="0" blurRad="12700" dist="12700" dir="16200000">
              <a:srgbClr val="db0011">
                <a:alpha val="10000"/>
              </a:srgbClr>
            </a:outerShdw>
          </a:effectLst>
        </p:spPr>
      </p:sp>
      <p:pic>
        <p:nvPicPr>
          <p:cNvPr id="7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445106" y="2219249"/>
            <a:ext cx="190195" cy="190195"/>
          </a:xfrm>
          <a:prstGeom prst="rect">
            <a:avLst/>
          </a:prstGeom>
        </p:spPr>
      </p:pic>
      <p:sp>
        <p:nvSpPr>
          <p:cNvPr id="71" name="Shape 59"/>
          <p:cNvSpPr/>
          <p:nvPr/>
        </p:nvSpPr>
        <p:spPr>
          <a:xfrm>
            <a:off x="5810098" y="2029054"/>
            <a:ext cx="571500" cy="571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000293" y="2219249"/>
            <a:ext cx="190195" cy="190195"/>
          </a:xfrm>
          <a:prstGeom prst="rect">
            <a:avLst/>
          </a:prstGeom>
        </p:spPr>
      </p:pic>
      <p:sp>
        <p:nvSpPr>
          <p:cNvPr id="73" name="Shape 60"/>
          <p:cNvSpPr/>
          <p:nvPr/>
        </p:nvSpPr>
        <p:spPr>
          <a:xfrm>
            <a:off x="9366199" y="2029054"/>
            <a:ext cx="571500" cy="571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pic>
        <p:nvPicPr>
          <p:cNvPr id="74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556394" y="2219249"/>
            <a:ext cx="190195" cy="1901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2026-01-12T05:25:49Z</dcterms:created>
  <dcterms:modified xsi:type="dcterms:W3CDTF">2026-01-12T05:25:49Z</dcterms:modified>
</cp:coreProperties>
</file>